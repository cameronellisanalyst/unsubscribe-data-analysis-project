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28A1D3-3336-48F9-840B-3823B91B51FB}" v="10" dt="2026-01-12T22:29:15.4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111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meron Ellis" userId="a5500c48501c04b8" providerId="LiveId" clId="{1D877DD1-EBD8-4F64-A821-82592B88B125}"/>
    <pc:docChg chg="undo custSel addSld modSld">
      <pc:chgData name="Cameron Ellis" userId="a5500c48501c04b8" providerId="LiveId" clId="{1D877DD1-EBD8-4F64-A821-82592B88B125}" dt="2026-01-12T23:17:07.067" v="6606" actId="20577"/>
      <pc:docMkLst>
        <pc:docMk/>
      </pc:docMkLst>
      <pc:sldChg chg="modSp mod">
        <pc:chgData name="Cameron Ellis" userId="a5500c48501c04b8" providerId="LiveId" clId="{1D877DD1-EBD8-4F64-A821-82592B88B125}" dt="2026-01-12T23:17:07.067" v="6606" actId="20577"/>
        <pc:sldMkLst>
          <pc:docMk/>
          <pc:sldMk cId="22163488" sldId="259"/>
        </pc:sldMkLst>
        <pc:spChg chg="mod">
          <ac:chgData name="Cameron Ellis" userId="a5500c48501c04b8" providerId="LiveId" clId="{1D877DD1-EBD8-4F64-A821-82592B88B125}" dt="2026-01-12T23:17:07.067" v="6606" actId="20577"/>
          <ac:spMkLst>
            <pc:docMk/>
            <pc:sldMk cId="22163488" sldId="259"/>
            <ac:spMk id="3" creationId="{69B61EDC-2773-820F-FD87-0DDFC64B5448}"/>
          </ac:spMkLst>
        </pc:spChg>
      </pc:sldChg>
      <pc:sldChg chg="addSp delSp modSp mod">
        <pc:chgData name="Cameron Ellis" userId="a5500c48501c04b8" providerId="LiveId" clId="{1D877DD1-EBD8-4F64-A821-82592B88B125}" dt="2026-01-12T22:49:54.980" v="6316" actId="478"/>
        <pc:sldMkLst>
          <pc:docMk/>
          <pc:sldMk cId="2026516608" sldId="261"/>
        </pc:sldMkLst>
        <pc:graphicFrameChg chg="add del mod modGraphic">
          <ac:chgData name="Cameron Ellis" userId="a5500c48501c04b8" providerId="LiveId" clId="{1D877DD1-EBD8-4F64-A821-82592B88B125}" dt="2026-01-12T22:48:48.497" v="6229" actId="3680"/>
          <ac:graphicFrameMkLst>
            <pc:docMk/>
            <pc:sldMk cId="2026516608" sldId="261"/>
            <ac:graphicFrameMk id="15" creationId="{396CD427-5B35-8B65-3638-8D5C252A8E7A}"/>
          </ac:graphicFrameMkLst>
        </pc:graphicFrameChg>
        <pc:graphicFrameChg chg="add del">
          <ac:chgData name="Cameron Ellis" userId="a5500c48501c04b8" providerId="LiveId" clId="{1D877DD1-EBD8-4F64-A821-82592B88B125}" dt="2026-01-12T22:48:54.766" v="6231" actId="3680"/>
          <ac:graphicFrameMkLst>
            <pc:docMk/>
            <pc:sldMk cId="2026516608" sldId="261"/>
            <ac:graphicFrameMk id="16" creationId="{A83E9BF2-E43B-B192-CA02-112B4F86AC0C}"/>
          </ac:graphicFrameMkLst>
        </pc:graphicFrameChg>
        <pc:graphicFrameChg chg="add del">
          <ac:chgData name="Cameron Ellis" userId="a5500c48501c04b8" providerId="LiveId" clId="{1D877DD1-EBD8-4F64-A821-82592B88B125}" dt="2026-01-12T22:49:06.207" v="6233" actId="3680"/>
          <ac:graphicFrameMkLst>
            <pc:docMk/>
            <pc:sldMk cId="2026516608" sldId="261"/>
            <ac:graphicFrameMk id="17" creationId="{591ADB94-1187-13C8-614A-A2989CAB21BC}"/>
          </ac:graphicFrameMkLst>
        </pc:graphicFrameChg>
        <pc:graphicFrameChg chg="add mod modGraphic">
          <ac:chgData name="Cameron Ellis" userId="a5500c48501c04b8" providerId="LiveId" clId="{1D877DD1-EBD8-4F64-A821-82592B88B125}" dt="2026-01-12T22:49:51.826" v="6315" actId="20577"/>
          <ac:graphicFrameMkLst>
            <pc:docMk/>
            <pc:sldMk cId="2026516608" sldId="261"/>
            <ac:graphicFrameMk id="18" creationId="{C39896FD-480A-F3BE-9668-74C6667936B0}"/>
          </ac:graphicFrameMkLst>
        </pc:graphicFrameChg>
        <pc:picChg chg="del mod">
          <ac:chgData name="Cameron Ellis" userId="a5500c48501c04b8" providerId="LiveId" clId="{1D877DD1-EBD8-4F64-A821-82592B88B125}" dt="2026-01-12T22:49:54.980" v="6316" actId="478"/>
          <ac:picMkLst>
            <pc:docMk/>
            <pc:sldMk cId="2026516608" sldId="261"/>
            <ac:picMk id="13" creationId="{020CC024-38D7-CD4A-E38F-0040A476C393}"/>
          </ac:picMkLst>
        </pc:picChg>
      </pc:sldChg>
      <pc:sldChg chg="modSp mod">
        <pc:chgData name="Cameron Ellis" userId="a5500c48501c04b8" providerId="LiveId" clId="{1D877DD1-EBD8-4F64-A821-82592B88B125}" dt="2026-01-12T22:50:48.228" v="6347" actId="1076"/>
        <pc:sldMkLst>
          <pc:docMk/>
          <pc:sldMk cId="3448155761" sldId="262"/>
        </pc:sldMkLst>
        <pc:picChg chg="mod">
          <ac:chgData name="Cameron Ellis" userId="a5500c48501c04b8" providerId="LiveId" clId="{1D877DD1-EBD8-4F64-A821-82592B88B125}" dt="2026-01-12T22:50:48.228" v="6347" actId="1076"/>
          <ac:picMkLst>
            <pc:docMk/>
            <pc:sldMk cId="3448155761" sldId="262"/>
            <ac:picMk id="5" creationId="{08F7157B-AD72-2D3D-3435-B0EC0B81D7BB}"/>
          </ac:picMkLst>
        </pc:picChg>
      </pc:sldChg>
      <pc:sldChg chg="addSp delSp modSp mod">
        <pc:chgData name="Cameron Ellis" userId="a5500c48501c04b8" providerId="LiveId" clId="{1D877DD1-EBD8-4F64-A821-82592B88B125}" dt="2026-01-12T22:58:19.536" v="6477" actId="1076"/>
        <pc:sldMkLst>
          <pc:docMk/>
          <pc:sldMk cId="3035510505" sldId="263"/>
        </pc:sldMkLst>
        <pc:spChg chg="mod">
          <ac:chgData name="Cameron Ellis" userId="a5500c48501c04b8" providerId="LiveId" clId="{1D877DD1-EBD8-4F64-A821-82592B88B125}" dt="2026-01-12T22:54:06.975" v="6376" actId="20577"/>
          <ac:spMkLst>
            <pc:docMk/>
            <pc:sldMk cId="3035510505" sldId="263"/>
            <ac:spMk id="7" creationId="{E0EDB5E6-9B27-FF22-C144-6C0172FF396F}"/>
          </ac:spMkLst>
        </pc:spChg>
        <pc:picChg chg="del">
          <ac:chgData name="Cameron Ellis" userId="a5500c48501c04b8" providerId="LiveId" clId="{1D877DD1-EBD8-4F64-A821-82592B88B125}" dt="2026-01-12T22:50:55.841" v="6348" actId="478"/>
          <ac:picMkLst>
            <pc:docMk/>
            <pc:sldMk cId="3035510505" sldId="263"/>
            <ac:picMk id="11" creationId="{856A9899-4093-7F52-3CB0-FF2479B82482}"/>
          </ac:picMkLst>
        </pc:picChg>
        <pc:picChg chg="add del mod">
          <ac:chgData name="Cameron Ellis" userId="a5500c48501c04b8" providerId="LiveId" clId="{1D877DD1-EBD8-4F64-A821-82592B88B125}" dt="2026-01-12T22:58:09.004" v="6473" actId="478"/>
          <ac:picMkLst>
            <pc:docMk/>
            <pc:sldMk cId="3035510505" sldId="263"/>
            <ac:picMk id="19" creationId="{82C3209A-8F75-0188-FC6A-3C7D199FF5A8}"/>
          </ac:picMkLst>
        </pc:picChg>
        <pc:picChg chg="add mod">
          <ac:chgData name="Cameron Ellis" userId="a5500c48501c04b8" providerId="LiveId" clId="{1D877DD1-EBD8-4F64-A821-82592B88B125}" dt="2026-01-12T22:58:19.536" v="6477" actId="1076"/>
          <ac:picMkLst>
            <pc:docMk/>
            <pc:sldMk cId="3035510505" sldId="263"/>
            <ac:picMk id="21" creationId="{4703D377-0A12-CB0F-34DA-EB84D2964300}"/>
          </ac:picMkLst>
        </pc:picChg>
      </pc:sldChg>
      <pc:sldChg chg="addSp delSp modSp mod">
        <pc:chgData name="Cameron Ellis" userId="a5500c48501c04b8" providerId="LiveId" clId="{1D877DD1-EBD8-4F64-A821-82592B88B125}" dt="2026-01-12T22:55:13.475" v="6472" actId="478"/>
        <pc:sldMkLst>
          <pc:docMk/>
          <pc:sldMk cId="2329399762" sldId="264"/>
        </pc:sldMkLst>
        <pc:graphicFrameChg chg="add mod modGraphic">
          <ac:chgData name="Cameron Ellis" userId="a5500c48501c04b8" providerId="LiveId" clId="{1D877DD1-EBD8-4F64-A821-82592B88B125}" dt="2026-01-12T22:55:11.238" v="6471" actId="20577"/>
          <ac:graphicFrameMkLst>
            <pc:docMk/>
            <pc:sldMk cId="2329399762" sldId="264"/>
            <ac:graphicFrameMk id="16" creationId="{6B81ABCB-CA15-FA64-9A91-D70578488F87}"/>
          </ac:graphicFrameMkLst>
        </pc:graphicFrameChg>
        <pc:picChg chg="del mod">
          <ac:chgData name="Cameron Ellis" userId="a5500c48501c04b8" providerId="LiveId" clId="{1D877DD1-EBD8-4F64-A821-82592B88B125}" dt="2026-01-12T22:55:13.475" v="6472" actId="478"/>
          <ac:picMkLst>
            <pc:docMk/>
            <pc:sldMk cId="2329399762" sldId="264"/>
            <ac:picMk id="15" creationId="{BCF9BECA-3018-372E-878F-B6B58806004E}"/>
          </ac:picMkLst>
        </pc:picChg>
      </pc:sldChg>
      <pc:sldChg chg="modSp mod">
        <pc:chgData name="Cameron Ellis" userId="a5500c48501c04b8" providerId="LiveId" clId="{1D877DD1-EBD8-4F64-A821-82592B88B125}" dt="2026-01-12T20:49:22.758" v="318" actId="20577"/>
        <pc:sldMkLst>
          <pc:docMk/>
          <pc:sldMk cId="4214299217" sldId="265"/>
        </pc:sldMkLst>
        <pc:spChg chg="mod">
          <ac:chgData name="Cameron Ellis" userId="a5500c48501c04b8" providerId="LiveId" clId="{1D877DD1-EBD8-4F64-A821-82592B88B125}" dt="2026-01-12T20:49:22.758" v="318" actId="20577"/>
          <ac:spMkLst>
            <pc:docMk/>
            <pc:sldMk cId="4214299217" sldId="265"/>
            <ac:spMk id="2" creationId="{39B1C48F-AE17-C318-2A4D-E631A2FBE816}"/>
          </ac:spMkLst>
        </pc:spChg>
        <pc:picChg chg="mod">
          <ac:chgData name="Cameron Ellis" userId="a5500c48501c04b8" providerId="LiveId" clId="{1D877DD1-EBD8-4F64-A821-82592B88B125}" dt="2026-01-12T20:49:04.794" v="314" actId="1076"/>
          <ac:picMkLst>
            <pc:docMk/>
            <pc:sldMk cId="4214299217" sldId="265"/>
            <ac:picMk id="5" creationId="{430A1106-50AE-5CB8-08E0-4C180620390F}"/>
          </ac:picMkLst>
        </pc:picChg>
      </pc:sldChg>
      <pc:sldChg chg="addSp delSp modSp new mod">
        <pc:chgData name="Cameron Ellis" userId="a5500c48501c04b8" providerId="LiveId" clId="{1D877DD1-EBD8-4F64-A821-82592B88B125}" dt="2026-01-12T21:09:25.573" v="437" actId="20577"/>
        <pc:sldMkLst>
          <pc:docMk/>
          <pc:sldMk cId="1479121368" sldId="266"/>
        </pc:sldMkLst>
        <pc:spChg chg="mod">
          <ac:chgData name="Cameron Ellis" userId="a5500c48501c04b8" providerId="LiveId" clId="{1D877DD1-EBD8-4F64-A821-82592B88B125}" dt="2026-01-12T21:09:25.573" v="437" actId="20577"/>
          <ac:spMkLst>
            <pc:docMk/>
            <pc:sldMk cId="1479121368" sldId="266"/>
            <ac:spMk id="2" creationId="{46B5EFBD-A89C-8495-D808-6CB4FFACEBEC}"/>
          </ac:spMkLst>
        </pc:spChg>
        <pc:spChg chg="del">
          <ac:chgData name="Cameron Ellis" userId="a5500c48501c04b8" providerId="LiveId" clId="{1D877DD1-EBD8-4F64-A821-82592B88B125}" dt="2026-01-12T20:44:29.929" v="49" actId="22"/>
          <ac:spMkLst>
            <pc:docMk/>
            <pc:sldMk cId="1479121368" sldId="266"/>
            <ac:spMk id="3" creationId="{F58217BF-AB62-2F1D-83BA-F28E44EC3608}"/>
          </ac:spMkLst>
        </pc:spChg>
        <pc:spChg chg="add mod">
          <ac:chgData name="Cameron Ellis" userId="a5500c48501c04b8" providerId="LiveId" clId="{1D877DD1-EBD8-4F64-A821-82592B88B125}" dt="2026-01-12T20:58:31.829" v="407" actId="20577"/>
          <ac:spMkLst>
            <pc:docMk/>
            <pc:sldMk cId="1479121368" sldId="266"/>
            <ac:spMk id="7" creationId="{89236369-04FE-FD98-34C7-68C4D11137DA}"/>
          </ac:spMkLst>
        </pc:spChg>
        <pc:picChg chg="add del mod ord">
          <ac:chgData name="Cameron Ellis" userId="a5500c48501c04b8" providerId="LiveId" clId="{1D877DD1-EBD8-4F64-A821-82592B88B125}" dt="2026-01-12T20:44:55.929" v="56" actId="478"/>
          <ac:picMkLst>
            <pc:docMk/>
            <pc:sldMk cId="1479121368" sldId="266"/>
            <ac:picMk id="5" creationId="{1BCF666B-ECF9-6538-DAF7-BEC539A8EE39}"/>
          </ac:picMkLst>
        </pc:picChg>
        <pc:picChg chg="add del mod">
          <ac:chgData name="Cameron Ellis" userId="a5500c48501c04b8" providerId="LiveId" clId="{1D877DD1-EBD8-4F64-A821-82592B88B125}" dt="2026-01-12T20:57:34.761" v="348" actId="478"/>
          <ac:picMkLst>
            <pc:docMk/>
            <pc:sldMk cId="1479121368" sldId="266"/>
            <ac:picMk id="8" creationId="{6D16B859-158C-31D2-6A9A-A538542C7AF3}"/>
          </ac:picMkLst>
        </pc:picChg>
        <pc:picChg chg="add del mod">
          <ac:chgData name="Cameron Ellis" userId="a5500c48501c04b8" providerId="LiveId" clId="{1D877DD1-EBD8-4F64-A821-82592B88B125}" dt="2026-01-12T20:57:13.656" v="335" actId="22"/>
          <ac:picMkLst>
            <pc:docMk/>
            <pc:sldMk cId="1479121368" sldId="266"/>
            <ac:picMk id="10" creationId="{6BD800A5-A605-44BD-4011-006CCDFCFB7E}"/>
          </ac:picMkLst>
        </pc:picChg>
        <pc:picChg chg="add mod">
          <ac:chgData name="Cameron Ellis" userId="a5500c48501c04b8" providerId="LiveId" clId="{1D877DD1-EBD8-4F64-A821-82592B88B125}" dt="2026-01-12T20:58:43.014" v="411" actId="1076"/>
          <ac:picMkLst>
            <pc:docMk/>
            <pc:sldMk cId="1479121368" sldId="266"/>
            <ac:picMk id="11" creationId="{E43503DA-7485-C3A6-08B3-23A73483815E}"/>
          </ac:picMkLst>
        </pc:picChg>
      </pc:sldChg>
      <pc:sldChg chg="addSp delSp modSp new mod">
        <pc:chgData name="Cameron Ellis" userId="a5500c48501c04b8" providerId="LiveId" clId="{1D877DD1-EBD8-4F64-A821-82592B88B125}" dt="2026-01-12T22:59:58.340" v="6597" actId="313"/>
        <pc:sldMkLst>
          <pc:docMk/>
          <pc:sldMk cId="4215799673" sldId="267"/>
        </pc:sldMkLst>
        <pc:spChg chg="mod">
          <ac:chgData name="Cameron Ellis" userId="a5500c48501c04b8" providerId="LiveId" clId="{1D877DD1-EBD8-4F64-A821-82592B88B125}" dt="2026-01-12T22:59:58.340" v="6597" actId="313"/>
          <ac:spMkLst>
            <pc:docMk/>
            <pc:sldMk cId="4215799673" sldId="267"/>
            <ac:spMk id="2" creationId="{DDDA6822-F16C-23F8-A7C8-CB28F1D6266B}"/>
          </ac:spMkLst>
        </pc:spChg>
        <pc:spChg chg="del">
          <ac:chgData name="Cameron Ellis" userId="a5500c48501c04b8" providerId="LiveId" clId="{1D877DD1-EBD8-4F64-A821-82592B88B125}" dt="2026-01-12T20:59:54" v="413" actId="22"/>
          <ac:spMkLst>
            <pc:docMk/>
            <pc:sldMk cId="4215799673" sldId="267"/>
            <ac:spMk id="3" creationId="{3B3454E0-6E8C-D65A-BA9F-C1143564DC43}"/>
          </ac:spMkLst>
        </pc:spChg>
        <pc:picChg chg="add mod ord">
          <ac:chgData name="Cameron Ellis" userId="a5500c48501c04b8" providerId="LiveId" clId="{1D877DD1-EBD8-4F64-A821-82592B88B125}" dt="2026-01-12T21:22:35.918" v="679" actId="1076"/>
          <ac:picMkLst>
            <pc:docMk/>
            <pc:sldMk cId="4215799673" sldId="267"/>
            <ac:picMk id="5" creationId="{F7EFE468-412D-3554-70BD-9C6802AB2B1D}"/>
          </ac:picMkLst>
        </pc:picChg>
      </pc:sldChg>
      <pc:sldChg chg="modSp new mod">
        <pc:chgData name="Cameron Ellis" userId="a5500c48501c04b8" providerId="LiveId" clId="{1D877DD1-EBD8-4F64-A821-82592B88B125}" dt="2026-01-12T21:41:43.574" v="1603" actId="20577"/>
        <pc:sldMkLst>
          <pc:docMk/>
          <pc:sldMk cId="2416767987" sldId="268"/>
        </pc:sldMkLst>
        <pc:spChg chg="mod">
          <ac:chgData name="Cameron Ellis" userId="a5500c48501c04b8" providerId="LiveId" clId="{1D877DD1-EBD8-4F64-A821-82592B88B125}" dt="2026-01-12T21:25:58.339" v="708" actId="20577"/>
          <ac:spMkLst>
            <pc:docMk/>
            <pc:sldMk cId="2416767987" sldId="268"/>
            <ac:spMk id="2" creationId="{845C7080-DB94-F798-0F8F-2B9D475D72ED}"/>
          </ac:spMkLst>
        </pc:spChg>
        <pc:spChg chg="mod">
          <ac:chgData name="Cameron Ellis" userId="a5500c48501c04b8" providerId="LiveId" clId="{1D877DD1-EBD8-4F64-A821-82592B88B125}" dt="2026-01-12T21:41:43.574" v="1603" actId="20577"/>
          <ac:spMkLst>
            <pc:docMk/>
            <pc:sldMk cId="2416767987" sldId="268"/>
            <ac:spMk id="3" creationId="{95254D63-DBA6-8137-A0DD-54991BF5F369}"/>
          </ac:spMkLst>
        </pc:spChg>
      </pc:sldChg>
      <pc:sldChg chg="modSp new mod">
        <pc:chgData name="Cameron Ellis" userId="a5500c48501c04b8" providerId="LiveId" clId="{1D877DD1-EBD8-4F64-A821-82592B88B125}" dt="2026-01-12T22:04:51.719" v="3072" actId="20577"/>
        <pc:sldMkLst>
          <pc:docMk/>
          <pc:sldMk cId="2437924790" sldId="269"/>
        </pc:sldMkLst>
        <pc:spChg chg="mod">
          <ac:chgData name="Cameron Ellis" userId="a5500c48501c04b8" providerId="LiveId" clId="{1D877DD1-EBD8-4F64-A821-82592B88B125}" dt="2026-01-12T21:50:26.830" v="1937" actId="20577"/>
          <ac:spMkLst>
            <pc:docMk/>
            <pc:sldMk cId="2437924790" sldId="269"/>
            <ac:spMk id="2" creationId="{3531ABE1-30A6-C156-EAEC-8339BC286EEE}"/>
          </ac:spMkLst>
        </pc:spChg>
        <pc:spChg chg="mod">
          <ac:chgData name="Cameron Ellis" userId="a5500c48501c04b8" providerId="LiveId" clId="{1D877DD1-EBD8-4F64-A821-82592B88B125}" dt="2026-01-12T22:04:51.719" v="3072" actId="20577"/>
          <ac:spMkLst>
            <pc:docMk/>
            <pc:sldMk cId="2437924790" sldId="269"/>
            <ac:spMk id="3" creationId="{16E1496B-7308-1F76-A594-18E88E7193CC}"/>
          </ac:spMkLst>
        </pc:spChg>
      </pc:sldChg>
      <pc:sldChg chg="modSp new mod">
        <pc:chgData name="Cameron Ellis" userId="a5500c48501c04b8" providerId="LiveId" clId="{1D877DD1-EBD8-4F64-A821-82592B88B125}" dt="2026-01-12T22:15:35.722" v="3878" actId="20577"/>
        <pc:sldMkLst>
          <pc:docMk/>
          <pc:sldMk cId="1439751144" sldId="270"/>
        </pc:sldMkLst>
        <pc:spChg chg="mod">
          <ac:chgData name="Cameron Ellis" userId="a5500c48501c04b8" providerId="LiveId" clId="{1D877DD1-EBD8-4F64-A821-82592B88B125}" dt="2026-01-12T22:06:10.431" v="3196" actId="20577"/>
          <ac:spMkLst>
            <pc:docMk/>
            <pc:sldMk cId="1439751144" sldId="270"/>
            <ac:spMk id="2" creationId="{34B080FE-3B87-AB5D-739A-C5975DDE5923}"/>
          </ac:spMkLst>
        </pc:spChg>
        <pc:spChg chg="mod">
          <ac:chgData name="Cameron Ellis" userId="a5500c48501c04b8" providerId="LiveId" clId="{1D877DD1-EBD8-4F64-A821-82592B88B125}" dt="2026-01-12T22:15:35.722" v="3878" actId="20577"/>
          <ac:spMkLst>
            <pc:docMk/>
            <pc:sldMk cId="1439751144" sldId="270"/>
            <ac:spMk id="3" creationId="{60BF51DC-07C3-50DE-75AA-5FB698616738}"/>
          </ac:spMkLst>
        </pc:spChg>
      </pc:sldChg>
      <pc:sldChg chg="modSp new mod">
        <pc:chgData name="Cameron Ellis" userId="a5500c48501c04b8" providerId="LiveId" clId="{1D877DD1-EBD8-4F64-A821-82592B88B125}" dt="2026-01-12T22:33:07.852" v="5195" actId="20577"/>
        <pc:sldMkLst>
          <pc:docMk/>
          <pc:sldMk cId="2122587604" sldId="271"/>
        </pc:sldMkLst>
        <pc:spChg chg="mod">
          <ac:chgData name="Cameron Ellis" userId="a5500c48501c04b8" providerId="LiveId" clId="{1D877DD1-EBD8-4F64-A821-82592B88B125}" dt="2026-01-12T22:16:53.663" v="3921" actId="20577"/>
          <ac:spMkLst>
            <pc:docMk/>
            <pc:sldMk cId="2122587604" sldId="271"/>
            <ac:spMk id="2" creationId="{091A7C28-3299-BE75-8988-3F0C9BE0B45F}"/>
          </ac:spMkLst>
        </pc:spChg>
        <pc:spChg chg="mod">
          <ac:chgData name="Cameron Ellis" userId="a5500c48501c04b8" providerId="LiveId" clId="{1D877DD1-EBD8-4F64-A821-82592B88B125}" dt="2026-01-12T22:33:07.852" v="5195" actId="20577"/>
          <ac:spMkLst>
            <pc:docMk/>
            <pc:sldMk cId="2122587604" sldId="271"/>
            <ac:spMk id="3" creationId="{7C8C936F-0F27-A22A-3E47-BA474F4B27C7}"/>
          </ac:spMkLst>
        </pc:spChg>
      </pc:sldChg>
      <pc:sldChg chg="modSp new mod">
        <pc:chgData name="Cameron Ellis" userId="a5500c48501c04b8" providerId="LiveId" clId="{1D877DD1-EBD8-4F64-A821-82592B88B125}" dt="2026-01-12T22:50:32.744" v="6346" actId="20577"/>
        <pc:sldMkLst>
          <pc:docMk/>
          <pc:sldMk cId="2433534581" sldId="272"/>
        </pc:sldMkLst>
        <pc:spChg chg="mod">
          <ac:chgData name="Cameron Ellis" userId="a5500c48501c04b8" providerId="LiveId" clId="{1D877DD1-EBD8-4F64-A821-82592B88B125}" dt="2026-01-12T22:33:58.767" v="5207" actId="20577"/>
          <ac:spMkLst>
            <pc:docMk/>
            <pc:sldMk cId="2433534581" sldId="272"/>
            <ac:spMk id="2" creationId="{F2D505A4-8883-0A49-D0DA-BF2AAA27DA1A}"/>
          </ac:spMkLst>
        </pc:spChg>
        <pc:spChg chg="mod">
          <ac:chgData name="Cameron Ellis" userId="a5500c48501c04b8" providerId="LiveId" clId="{1D877DD1-EBD8-4F64-A821-82592B88B125}" dt="2026-01-12T22:50:32.744" v="6346" actId="20577"/>
          <ac:spMkLst>
            <pc:docMk/>
            <pc:sldMk cId="2433534581" sldId="272"/>
            <ac:spMk id="3" creationId="{1C2BC6BA-F1E9-9898-1626-B1E5CF49FE7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74014A-E06A-4F58-AF5E-014B3FF34683}"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AEAF1-456D-4CAB-8E28-B13312EFA263}" type="slidenum">
              <a:rPr lang="en-US" smtClean="0"/>
              <a:t>‹#›</a:t>
            </a:fld>
            <a:endParaRPr lang="en-US"/>
          </a:p>
        </p:txBody>
      </p:sp>
    </p:spTree>
    <p:extLst>
      <p:ext uri="{BB962C8B-B14F-4D97-AF65-F5344CB8AC3E}">
        <p14:creationId xmlns:p14="http://schemas.microsoft.com/office/powerpoint/2010/main" val="2078057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74014A-E06A-4F58-AF5E-014B3FF34683}"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AEAF1-456D-4CAB-8E28-B13312EFA263}" type="slidenum">
              <a:rPr lang="en-US" smtClean="0"/>
              <a:t>‹#›</a:t>
            </a:fld>
            <a:endParaRPr lang="en-US"/>
          </a:p>
        </p:txBody>
      </p:sp>
    </p:spTree>
    <p:extLst>
      <p:ext uri="{BB962C8B-B14F-4D97-AF65-F5344CB8AC3E}">
        <p14:creationId xmlns:p14="http://schemas.microsoft.com/office/powerpoint/2010/main" val="2598093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74014A-E06A-4F58-AF5E-014B3FF34683}"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AEAF1-456D-4CAB-8E28-B13312EFA263}" type="slidenum">
              <a:rPr lang="en-US" smtClean="0"/>
              <a:t>‹#›</a:t>
            </a:fld>
            <a:endParaRPr lang="en-US"/>
          </a:p>
        </p:txBody>
      </p:sp>
    </p:spTree>
    <p:extLst>
      <p:ext uri="{BB962C8B-B14F-4D97-AF65-F5344CB8AC3E}">
        <p14:creationId xmlns:p14="http://schemas.microsoft.com/office/powerpoint/2010/main" val="3979515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74014A-E06A-4F58-AF5E-014B3FF34683}"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6AEAF1-456D-4CAB-8E28-B13312EFA263}" type="slidenum">
              <a:rPr lang="en-US" smtClean="0"/>
              <a:t>‹#›</a:t>
            </a:fld>
            <a:endParaRPr lang="en-US"/>
          </a:p>
        </p:txBody>
      </p:sp>
    </p:spTree>
    <p:extLst>
      <p:ext uri="{BB962C8B-B14F-4D97-AF65-F5344CB8AC3E}">
        <p14:creationId xmlns:p14="http://schemas.microsoft.com/office/powerpoint/2010/main" val="2262435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74014A-E06A-4F58-AF5E-014B3FF34683}" type="datetimeFigureOut">
              <a:rPr lang="en-US" smtClean="0"/>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6AEAF1-456D-4CAB-8E28-B13312EFA263}" type="slidenum">
              <a:rPr lang="en-US" smtClean="0"/>
              <a:t>‹#›</a:t>
            </a:fld>
            <a:endParaRPr lang="en-US"/>
          </a:p>
        </p:txBody>
      </p:sp>
    </p:spTree>
    <p:extLst>
      <p:ext uri="{BB962C8B-B14F-4D97-AF65-F5344CB8AC3E}">
        <p14:creationId xmlns:p14="http://schemas.microsoft.com/office/powerpoint/2010/main" val="3730885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74014A-E06A-4F58-AF5E-014B3FF34683}" type="datetimeFigureOut">
              <a:rPr lang="en-US" smtClean="0"/>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6AEAF1-456D-4CAB-8E28-B13312EFA263}" type="slidenum">
              <a:rPr lang="en-US" smtClean="0"/>
              <a:t>‹#›</a:t>
            </a:fld>
            <a:endParaRPr lang="en-US"/>
          </a:p>
        </p:txBody>
      </p:sp>
    </p:spTree>
    <p:extLst>
      <p:ext uri="{BB962C8B-B14F-4D97-AF65-F5344CB8AC3E}">
        <p14:creationId xmlns:p14="http://schemas.microsoft.com/office/powerpoint/2010/main" val="1127941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74014A-E06A-4F58-AF5E-014B3FF34683}" type="datetimeFigureOut">
              <a:rPr lang="en-US" smtClean="0"/>
              <a:t>1/12/2026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6AEAF1-456D-4CAB-8E28-B13312EFA263}" type="slidenum">
              <a:rPr lang="en-US" smtClean="0"/>
              <a:t>‹#›</a:t>
            </a:fld>
            <a:endParaRPr lang="en-US"/>
          </a:p>
        </p:txBody>
      </p:sp>
    </p:spTree>
    <p:extLst>
      <p:ext uri="{BB962C8B-B14F-4D97-AF65-F5344CB8AC3E}">
        <p14:creationId xmlns:p14="http://schemas.microsoft.com/office/powerpoint/2010/main" val="1258361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74014A-E06A-4F58-AF5E-014B3FF34683}"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6AEAF1-456D-4CAB-8E28-B13312EFA263}" type="slidenum">
              <a:rPr lang="en-US" smtClean="0"/>
              <a:t>‹#›</a:t>
            </a:fld>
            <a:endParaRPr lang="en-US"/>
          </a:p>
        </p:txBody>
      </p:sp>
    </p:spTree>
    <p:extLst>
      <p:ext uri="{BB962C8B-B14F-4D97-AF65-F5344CB8AC3E}">
        <p14:creationId xmlns:p14="http://schemas.microsoft.com/office/powerpoint/2010/main" val="780582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74014A-E06A-4F58-AF5E-014B3FF34683}"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6AEAF1-456D-4CAB-8E28-B13312EFA263}" type="slidenum">
              <a:rPr lang="en-US" smtClean="0"/>
              <a:t>‹#›</a:t>
            </a:fld>
            <a:endParaRPr lang="en-US"/>
          </a:p>
        </p:txBody>
      </p:sp>
    </p:spTree>
    <p:extLst>
      <p:ext uri="{BB962C8B-B14F-4D97-AF65-F5344CB8AC3E}">
        <p14:creationId xmlns:p14="http://schemas.microsoft.com/office/powerpoint/2010/main" val="1959823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74014A-E06A-4F58-AF5E-014B3FF34683}"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AEAF1-456D-4CAB-8E28-B13312EFA263}" type="slidenum">
              <a:rPr lang="en-US" smtClean="0"/>
              <a:t>‹#›</a:t>
            </a:fld>
            <a:endParaRPr lang="en-US"/>
          </a:p>
        </p:txBody>
      </p:sp>
    </p:spTree>
    <p:extLst>
      <p:ext uri="{BB962C8B-B14F-4D97-AF65-F5344CB8AC3E}">
        <p14:creationId xmlns:p14="http://schemas.microsoft.com/office/powerpoint/2010/main" val="798402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74014A-E06A-4F58-AF5E-014B3FF34683}"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AEAF1-456D-4CAB-8E28-B13312EFA26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73520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74014A-E06A-4F58-AF5E-014B3FF34683}"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AEAF1-456D-4CAB-8E28-B13312EFA263}" type="slidenum">
              <a:rPr lang="en-US" smtClean="0"/>
              <a:t>‹#›</a:t>
            </a:fld>
            <a:endParaRPr lang="en-US"/>
          </a:p>
        </p:txBody>
      </p:sp>
    </p:spTree>
    <p:extLst>
      <p:ext uri="{BB962C8B-B14F-4D97-AF65-F5344CB8AC3E}">
        <p14:creationId xmlns:p14="http://schemas.microsoft.com/office/powerpoint/2010/main" val="1336147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74014A-E06A-4F58-AF5E-014B3FF34683}"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AEAF1-456D-4CAB-8E28-B13312EFA26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28226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74014A-E06A-4F58-AF5E-014B3FF34683}"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AEAF1-456D-4CAB-8E28-B13312EFA263}" type="slidenum">
              <a:rPr lang="en-US" smtClean="0"/>
              <a:t>‹#›</a:t>
            </a:fld>
            <a:endParaRPr lang="en-US"/>
          </a:p>
        </p:txBody>
      </p:sp>
    </p:spTree>
    <p:extLst>
      <p:ext uri="{BB962C8B-B14F-4D97-AF65-F5344CB8AC3E}">
        <p14:creationId xmlns:p14="http://schemas.microsoft.com/office/powerpoint/2010/main" val="3756833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74014A-E06A-4F58-AF5E-014B3FF34683}"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AEAF1-456D-4CAB-8E28-B13312EFA263}" type="slidenum">
              <a:rPr lang="en-US" smtClean="0"/>
              <a:t>‹#›</a:t>
            </a:fld>
            <a:endParaRPr lang="en-US"/>
          </a:p>
        </p:txBody>
      </p:sp>
    </p:spTree>
    <p:extLst>
      <p:ext uri="{BB962C8B-B14F-4D97-AF65-F5344CB8AC3E}">
        <p14:creationId xmlns:p14="http://schemas.microsoft.com/office/powerpoint/2010/main" val="25712587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74014A-E06A-4F58-AF5E-014B3FF34683}"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AEAF1-456D-4CAB-8E28-B13312EFA263}" type="slidenum">
              <a:rPr lang="en-US" smtClean="0"/>
              <a:t>‹#›</a:t>
            </a:fld>
            <a:endParaRPr lang="en-US"/>
          </a:p>
        </p:txBody>
      </p:sp>
    </p:spTree>
    <p:extLst>
      <p:ext uri="{BB962C8B-B14F-4D97-AF65-F5344CB8AC3E}">
        <p14:creationId xmlns:p14="http://schemas.microsoft.com/office/powerpoint/2010/main" val="3637816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D74014A-E06A-4F58-AF5E-014B3FF34683}" type="datetimeFigureOut">
              <a:rPr lang="en-US" smtClean="0"/>
              <a:t>1/12/2026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16AEAF1-456D-4CAB-8E28-B13312EFA263}" type="slidenum">
              <a:rPr lang="en-US" smtClean="0"/>
              <a:t>‹#›</a:t>
            </a:fld>
            <a:endParaRPr lang="en-US"/>
          </a:p>
        </p:txBody>
      </p:sp>
    </p:spTree>
    <p:extLst>
      <p:ext uri="{BB962C8B-B14F-4D97-AF65-F5344CB8AC3E}">
        <p14:creationId xmlns:p14="http://schemas.microsoft.com/office/powerpoint/2010/main" val="25513426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agencyanalytics.com/kpi-definitions/email-unsubscribe-rate"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14C8F-F899-DC09-919E-A8EA2B66AA6D}"/>
              </a:ext>
            </a:extLst>
          </p:cNvPr>
          <p:cNvSpPr>
            <a:spLocks noGrp="1"/>
          </p:cNvSpPr>
          <p:nvPr>
            <p:ph type="ctrTitle"/>
          </p:nvPr>
        </p:nvSpPr>
        <p:spPr>
          <a:xfrm>
            <a:off x="1507067" y="1455174"/>
            <a:ext cx="7766936" cy="2595662"/>
          </a:xfrm>
        </p:spPr>
        <p:txBody>
          <a:bodyPr/>
          <a:lstStyle/>
          <a:p>
            <a:pPr algn="ctr"/>
            <a:r>
              <a:rPr lang="en-US" dirty="0"/>
              <a:t>Email Marketing Data Analysis Project - </a:t>
            </a:r>
            <a:r>
              <a:rPr lang="en-US" dirty="0" err="1"/>
              <a:t>Unsubscribers</a:t>
            </a:r>
            <a:endParaRPr lang="en-US" dirty="0"/>
          </a:p>
        </p:txBody>
      </p:sp>
      <p:sp>
        <p:nvSpPr>
          <p:cNvPr id="3" name="Subtitle 2">
            <a:extLst>
              <a:ext uri="{FF2B5EF4-FFF2-40B4-BE49-F238E27FC236}">
                <a16:creationId xmlns:a16="http://schemas.microsoft.com/office/drawing/2014/main" id="{303CE0C5-E733-8ABF-EEF2-7984C3B5DE5C}"/>
              </a:ext>
            </a:extLst>
          </p:cNvPr>
          <p:cNvSpPr>
            <a:spLocks noGrp="1"/>
          </p:cNvSpPr>
          <p:nvPr>
            <p:ph type="subTitle" idx="1"/>
          </p:nvPr>
        </p:nvSpPr>
        <p:spPr/>
        <p:txBody>
          <a:bodyPr/>
          <a:lstStyle/>
          <a:p>
            <a:pPr algn="ctr"/>
            <a:r>
              <a:rPr lang="en-US" dirty="0"/>
              <a:t>Cameron Ellis</a:t>
            </a:r>
          </a:p>
        </p:txBody>
      </p:sp>
    </p:spTree>
    <p:extLst>
      <p:ext uri="{BB962C8B-B14F-4D97-AF65-F5344CB8AC3E}">
        <p14:creationId xmlns:p14="http://schemas.microsoft.com/office/powerpoint/2010/main" val="394662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84543-E87A-6DA8-2221-FF153EC03069}"/>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AE2E12A5-FB17-7D66-06CB-3AEF341C9714}"/>
              </a:ext>
            </a:extLst>
          </p:cNvPr>
          <p:cNvSpPr>
            <a:spLocks noGrp="1"/>
          </p:cNvSpPr>
          <p:nvPr>
            <p:ph idx="1"/>
          </p:nvPr>
        </p:nvSpPr>
        <p:spPr/>
        <p:txBody>
          <a:bodyPr/>
          <a:lstStyle/>
          <a:p>
            <a:pPr>
              <a:lnSpc>
                <a:spcPct val="200000"/>
              </a:lnSpc>
            </a:pPr>
            <a:r>
              <a:rPr lang="en-US" dirty="0"/>
              <a:t>Email marketing is an important part of ABC company’s community outreach</a:t>
            </a:r>
          </a:p>
          <a:p>
            <a:pPr>
              <a:lnSpc>
                <a:spcPct val="200000"/>
              </a:lnSpc>
            </a:pPr>
            <a:r>
              <a:rPr lang="en-US" dirty="0"/>
              <a:t>An unsubscribe rate to these emails could negatively affect the company’s outreach and sales</a:t>
            </a:r>
          </a:p>
          <a:p>
            <a:pPr>
              <a:lnSpc>
                <a:spcPct val="200000"/>
              </a:lnSpc>
            </a:pPr>
            <a:r>
              <a:rPr lang="en-US" dirty="0"/>
              <a:t>If there are underlying reasons for an undesirable rate, it is in the company’s best interest to pursue these reasons and rectify the issue(s)</a:t>
            </a:r>
          </a:p>
        </p:txBody>
      </p:sp>
    </p:spTree>
    <p:extLst>
      <p:ext uri="{BB962C8B-B14F-4D97-AF65-F5344CB8AC3E}">
        <p14:creationId xmlns:p14="http://schemas.microsoft.com/office/powerpoint/2010/main" val="3838682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998E6-0314-5A58-C964-96C1B064C341}"/>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375933C3-6A39-A7EF-5081-4E1B5250B45A}"/>
              </a:ext>
            </a:extLst>
          </p:cNvPr>
          <p:cNvSpPr>
            <a:spLocks noGrp="1"/>
          </p:cNvSpPr>
          <p:nvPr>
            <p:ph idx="1"/>
          </p:nvPr>
        </p:nvSpPr>
        <p:spPr/>
        <p:txBody>
          <a:bodyPr/>
          <a:lstStyle/>
          <a:p>
            <a:pPr>
              <a:lnSpc>
                <a:spcPct val="200000"/>
              </a:lnSpc>
            </a:pPr>
            <a:r>
              <a:rPr lang="en-US" dirty="0"/>
              <a:t>Perform Exploratory Data Analysis related to ABC company’s email engagement as it relates to users unsubscribing</a:t>
            </a:r>
          </a:p>
          <a:p>
            <a:pPr>
              <a:lnSpc>
                <a:spcPct val="200000"/>
              </a:lnSpc>
            </a:pPr>
            <a:r>
              <a:rPr lang="en-US" dirty="0"/>
              <a:t>Diagnose potential causes to high rates of unsubscribing on a macro and micro level</a:t>
            </a:r>
          </a:p>
          <a:p>
            <a:pPr>
              <a:lnSpc>
                <a:spcPct val="200000"/>
              </a:lnSpc>
            </a:pPr>
            <a:r>
              <a:rPr lang="en-US" dirty="0"/>
              <a:t>Recommend actionable solutions, acting as a member of ABC company’s marketing team</a:t>
            </a:r>
          </a:p>
        </p:txBody>
      </p:sp>
    </p:spTree>
    <p:extLst>
      <p:ext uri="{BB962C8B-B14F-4D97-AF65-F5344CB8AC3E}">
        <p14:creationId xmlns:p14="http://schemas.microsoft.com/office/powerpoint/2010/main" val="3078601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A4883-9625-12BE-88DF-5F6B5D043C4C}"/>
              </a:ext>
            </a:extLst>
          </p:cNvPr>
          <p:cNvSpPr>
            <a:spLocks noGrp="1"/>
          </p:cNvSpPr>
          <p:nvPr>
            <p:ph type="title"/>
          </p:nvPr>
        </p:nvSpPr>
        <p:spPr/>
        <p:txBody>
          <a:bodyPr/>
          <a:lstStyle/>
          <a:p>
            <a:pPr algn="ctr"/>
            <a:r>
              <a:rPr lang="en-US" dirty="0"/>
              <a:t>Dataset:</a:t>
            </a:r>
          </a:p>
        </p:txBody>
      </p:sp>
      <p:sp>
        <p:nvSpPr>
          <p:cNvPr id="3" name="Content Placeholder 2">
            <a:extLst>
              <a:ext uri="{FF2B5EF4-FFF2-40B4-BE49-F238E27FC236}">
                <a16:creationId xmlns:a16="http://schemas.microsoft.com/office/drawing/2014/main" id="{69B61EDC-2773-820F-FD87-0DDFC64B5448}"/>
              </a:ext>
            </a:extLst>
          </p:cNvPr>
          <p:cNvSpPr>
            <a:spLocks noGrp="1"/>
          </p:cNvSpPr>
          <p:nvPr>
            <p:ph idx="1"/>
          </p:nvPr>
        </p:nvSpPr>
        <p:spPr/>
        <p:txBody>
          <a:bodyPr/>
          <a:lstStyle/>
          <a:p>
            <a:pPr>
              <a:lnSpc>
                <a:spcPct val="200000"/>
              </a:lnSpc>
            </a:pPr>
            <a:r>
              <a:rPr lang="en-US" dirty="0" err="1"/>
              <a:t>email_marketing.db</a:t>
            </a:r>
            <a:r>
              <a:rPr lang="en-US" dirty="0"/>
              <a:t> public data provided on LinkedIn by Mary </a:t>
            </a:r>
            <a:r>
              <a:rPr lang="en-US" dirty="0" err="1"/>
              <a:t>Knoeferl</a:t>
            </a:r>
            <a:endParaRPr lang="en-US" dirty="0"/>
          </a:p>
          <a:p>
            <a:r>
              <a:rPr lang="en-US" dirty="0"/>
              <a:t>5 Tables of data: </a:t>
            </a:r>
          </a:p>
          <a:p>
            <a:r>
              <a:rPr lang="en-US" dirty="0" err="1"/>
              <a:t>Campaign_Performance</a:t>
            </a:r>
            <a:r>
              <a:rPr lang="en-US" dirty="0"/>
              <a:t> (shows total emails sent and unsubscribed to by different campaigns)</a:t>
            </a:r>
          </a:p>
          <a:p>
            <a:r>
              <a:rPr lang="en-US" dirty="0"/>
              <a:t>Campaign (shows campaign category)</a:t>
            </a:r>
          </a:p>
          <a:p>
            <a:r>
              <a:rPr lang="en-US" dirty="0" err="1"/>
              <a:t>Email_Engagement</a:t>
            </a:r>
            <a:r>
              <a:rPr lang="en-US" dirty="0"/>
              <a:t> (shows email data at the user level)</a:t>
            </a:r>
          </a:p>
          <a:p>
            <a:r>
              <a:rPr lang="en-US" dirty="0"/>
              <a:t>Unsubscribes (gives unsubscribe date and reason for unsubscribing by user)</a:t>
            </a:r>
          </a:p>
          <a:p>
            <a:r>
              <a:rPr lang="en-US" dirty="0"/>
              <a:t>Users (gives user signup date and region/location of </a:t>
            </a:r>
            <a:r>
              <a:rPr lang="en-US"/>
              <a:t>user)</a:t>
            </a:r>
            <a:endParaRPr lang="en-US" dirty="0"/>
          </a:p>
          <a:p>
            <a:endParaRPr lang="en-US" dirty="0"/>
          </a:p>
          <a:p>
            <a:endParaRPr lang="en-US" dirty="0"/>
          </a:p>
        </p:txBody>
      </p:sp>
    </p:spTree>
    <p:extLst>
      <p:ext uri="{BB962C8B-B14F-4D97-AF65-F5344CB8AC3E}">
        <p14:creationId xmlns:p14="http://schemas.microsoft.com/office/powerpoint/2010/main" val="22163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ECD1F-4315-5E6C-4AEE-73353A6A8B72}"/>
              </a:ext>
            </a:extLst>
          </p:cNvPr>
          <p:cNvSpPr>
            <a:spLocks noGrp="1"/>
          </p:cNvSpPr>
          <p:nvPr>
            <p:ph type="title"/>
          </p:nvPr>
        </p:nvSpPr>
        <p:spPr/>
        <p:txBody>
          <a:bodyPr/>
          <a:lstStyle/>
          <a:p>
            <a:pPr algn="ctr"/>
            <a:r>
              <a:rPr lang="en-US" dirty="0"/>
              <a:t>Steps Taken:</a:t>
            </a:r>
          </a:p>
        </p:txBody>
      </p:sp>
      <p:sp>
        <p:nvSpPr>
          <p:cNvPr id="3" name="Content Placeholder 2">
            <a:extLst>
              <a:ext uri="{FF2B5EF4-FFF2-40B4-BE49-F238E27FC236}">
                <a16:creationId xmlns:a16="http://schemas.microsoft.com/office/drawing/2014/main" id="{A0BA20D0-148B-943E-E1BE-A2619241CB50}"/>
              </a:ext>
            </a:extLst>
          </p:cNvPr>
          <p:cNvSpPr>
            <a:spLocks noGrp="1"/>
          </p:cNvSpPr>
          <p:nvPr>
            <p:ph idx="1"/>
          </p:nvPr>
        </p:nvSpPr>
        <p:spPr/>
        <p:txBody>
          <a:bodyPr/>
          <a:lstStyle/>
          <a:p>
            <a:pPr>
              <a:lnSpc>
                <a:spcPct val="200000"/>
              </a:lnSpc>
              <a:buFont typeface="+mj-lt"/>
              <a:buAutoNum type="arabicPeriod"/>
            </a:pPr>
            <a:r>
              <a:rPr lang="en-US" dirty="0"/>
              <a:t>Dataset exported locally to Desktop</a:t>
            </a:r>
          </a:p>
          <a:p>
            <a:pPr>
              <a:lnSpc>
                <a:spcPct val="200000"/>
              </a:lnSpc>
              <a:buFont typeface="+mj-lt"/>
              <a:buAutoNum type="arabicPeriod"/>
            </a:pPr>
            <a:r>
              <a:rPr lang="en-US" dirty="0"/>
              <a:t>Used </a:t>
            </a:r>
            <a:r>
              <a:rPr lang="en-US" dirty="0" err="1"/>
              <a:t>Sqlite</a:t>
            </a:r>
            <a:r>
              <a:rPr lang="en-US" dirty="0"/>
              <a:t> DB browser to execute initial Exploratory Data Analysis</a:t>
            </a:r>
          </a:p>
          <a:p>
            <a:pPr>
              <a:lnSpc>
                <a:spcPct val="200000"/>
              </a:lnSpc>
              <a:buFont typeface="+mj-lt"/>
              <a:buAutoNum type="arabicPeriod"/>
            </a:pPr>
            <a:r>
              <a:rPr lang="en-US" dirty="0"/>
              <a:t>Further EDA and visualization done using Tableau Public</a:t>
            </a:r>
          </a:p>
          <a:p>
            <a:pPr>
              <a:lnSpc>
                <a:spcPct val="200000"/>
              </a:lnSpc>
              <a:buFont typeface="+mj-lt"/>
              <a:buAutoNum type="arabicPeriod"/>
            </a:pPr>
            <a:r>
              <a:rPr lang="en-US" dirty="0"/>
              <a:t>PPT used to summarize analysis and visualizations</a:t>
            </a:r>
          </a:p>
          <a:p>
            <a:pPr>
              <a:lnSpc>
                <a:spcPct val="200000"/>
              </a:lnSpc>
              <a:buFont typeface="+mj-lt"/>
              <a:buAutoNum type="arabicPeriod"/>
            </a:pPr>
            <a:endParaRPr lang="en-US" dirty="0"/>
          </a:p>
        </p:txBody>
      </p:sp>
    </p:spTree>
    <p:extLst>
      <p:ext uri="{BB962C8B-B14F-4D97-AF65-F5344CB8AC3E}">
        <p14:creationId xmlns:p14="http://schemas.microsoft.com/office/powerpoint/2010/main" val="4194236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077C0-B9CA-9BC3-7F03-45E2135F9627}"/>
              </a:ext>
            </a:extLst>
          </p:cNvPr>
          <p:cNvSpPr>
            <a:spLocks noGrp="1"/>
          </p:cNvSpPr>
          <p:nvPr>
            <p:ph type="title"/>
          </p:nvPr>
        </p:nvSpPr>
        <p:spPr/>
        <p:txBody>
          <a:bodyPr/>
          <a:lstStyle/>
          <a:p>
            <a:pPr algn="ctr"/>
            <a:r>
              <a:rPr lang="en-US" dirty="0"/>
              <a:t>Overall Unsubscribe Rate:</a:t>
            </a:r>
          </a:p>
        </p:txBody>
      </p:sp>
      <p:pic>
        <p:nvPicPr>
          <p:cNvPr id="11" name="Content Placeholder 10">
            <a:extLst>
              <a:ext uri="{FF2B5EF4-FFF2-40B4-BE49-F238E27FC236}">
                <a16:creationId xmlns:a16="http://schemas.microsoft.com/office/drawing/2014/main" id="{8545AEBC-30E5-8C22-F861-713F4ABF7300}"/>
              </a:ext>
            </a:extLst>
          </p:cNvPr>
          <p:cNvPicPr>
            <a:picLocks noGrp="1" noChangeAspect="1"/>
          </p:cNvPicPr>
          <p:nvPr>
            <p:ph idx="1"/>
          </p:nvPr>
        </p:nvPicPr>
        <p:blipFill>
          <a:blip r:embed="rId2"/>
          <a:stretch>
            <a:fillRect/>
          </a:stretch>
        </p:blipFill>
        <p:spPr>
          <a:xfrm>
            <a:off x="412391" y="3640785"/>
            <a:ext cx="10023778" cy="570235"/>
          </a:xfrm>
          <a:prstGeom prst="rect">
            <a:avLst/>
          </a:prstGeom>
        </p:spPr>
      </p:pic>
      <p:sp>
        <p:nvSpPr>
          <p:cNvPr id="14" name="TextBox 13">
            <a:extLst>
              <a:ext uri="{FF2B5EF4-FFF2-40B4-BE49-F238E27FC236}">
                <a16:creationId xmlns:a16="http://schemas.microsoft.com/office/drawing/2014/main" id="{2C3CB2AA-7DDB-A836-18F5-1D9324D54484}"/>
              </a:ext>
            </a:extLst>
          </p:cNvPr>
          <p:cNvSpPr txBox="1"/>
          <p:nvPr/>
        </p:nvSpPr>
        <p:spPr>
          <a:xfrm>
            <a:off x="796413" y="4572000"/>
            <a:ext cx="9537290" cy="646331"/>
          </a:xfrm>
          <a:prstGeom prst="rect">
            <a:avLst/>
          </a:prstGeom>
          <a:noFill/>
        </p:spPr>
        <p:txBody>
          <a:bodyPr wrap="square" rtlCol="0">
            <a:spAutoFit/>
          </a:bodyPr>
          <a:lstStyle/>
          <a:p>
            <a:r>
              <a:rPr lang="en-US" dirty="0"/>
              <a:t>According to </a:t>
            </a:r>
            <a:r>
              <a:rPr lang="en-US" dirty="0">
                <a:hlinkClick r:id="rId3"/>
              </a:rPr>
              <a:t>Agency Analytics Website</a:t>
            </a:r>
            <a:r>
              <a:rPr lang="en-US" dirty="0"/>
              <a:t>, even a 2-3% Unsubscribe Rate is undesirable, implying potential issues with the emails being sent out. This is cause for concern</a:t>
            </a:r>
          </a:p>
        </p:txBody>
      </p:sp>
      <p:graphicFrame>
        <p:nvGraphicFramePr>
          <p:cNvPr id="18" name="Table 17">
            <a:extLst>
              <a:ext uri="{FF2B5EF4-FFF2-40B4-BE49-F238E27FC236}">
                <a16:creationId xmlns:a16="http://schemas.microsoft.com/office/drawing/2014/main" id="{C39896FD-480A-F3BE-9668-74C6667936B0}"/>
              </a:ext>
            </a:extLst>
          </p:cNvPr>
          <p:cNvGraphicFramePr>
            <a:graphicFrameLocks noGrp="1"/>
          </p:cNvGraphicFramePr>
          <p:nvPr>
            <p:extLst>
              <p:ext uri="{D42A27DB-BD31-4B8C-83A1-F6EECF244321}">
                <p14:modId xmlns:p14="http://schemas.microsoft.com/office/powerpoint/2010/main" val="3750439566"/>
              </p:ext>
            </p:extLst>
          </p:nvPr>
        </p:nvGraphicFramePr>
        <p:xfrm>
          <a:off x="1245420" y="1849871"/>
          <a:ext cx="8128000" cy="1483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149917255"/>
                    </a:ext>
                  </a:extLst>
                </a:gridCol>
                <a:gridCol w="4064000">
                  <a:extLst>
                    <a:ext uri="{9D8B030D-6E8A-4147-A177-3AD203B41FA5}">
                      <a16:colId xmlns:a16="http://schemas.microsoft.com/office/drawing/2014/main" val="3049997673"/>
                    </a:ext>
                  </a:extLst>
                </a:gridCol>
              </a:tblGrid>
              <a:tr h="370840">
                <a:tc>
                  <a:txBody>
                    <a:bodyPr/>
                    <a:lstStyle/>
                    <a:p>
                      <a:r>
                        <a:rPr lang="en-US" dirty="0"/>
                        <a:t>Category</a:t>
                      </a:r>
                    </a:p>
                  </a:txBody>
                  <a:tcPr/>
                </a:tc>
                <a:tc>
                  <a:txBody>
                    <a:bodyPr/>
                    <a:lstStyle/>
                    <a:p>
                      <a:r>
                        <a:rPr lang="en-US" dirty="0"/>
                        <a:t>Number</a:t>
                      </a:r>
                    </a:p>
                  </a:txBody>
                  <a:tcPr/>
                </a:tc>
                <a:extLst>
                  <a:ext uri="{0D108BD9-81ED-4DB2-BD59-A6C34878D82A}">
                    <a16:rowId xmlns:a16="http://schemas.microsoft.com/office/drawing/2014/main" val="97730542"/>
                  </a:ext>
                </a:extLst>
              </a:tr>
              <a:tr h="370840">
                <a:tc>
                  <a:txBody>
                    <a:bodyPr/>
                    <a:lstStyle/>
                    <a:p>
                      <a:r>
                        <a:rPr lang="en-US" dirty="0"/>
                        <a:t>Total Emails</a:t>
                      </a:r>
                    </a:p>
                  </a:txBody>
                  <a:tcPr/>
                </a:tc>
                <a:tc>
                  <a:txBody>
                    <a:bodyPr/>
                    <a:lstStyle/>
                    <a:p>
                      <a:r>
                        <a:rPr lang="en-US" dirty="0"/>
                        <a:t>30,000</a:t>
                      </a:r>
                    </a:p>
                  </a:txBody>
                  <a:tcPr/>
                </a:tc>
                <a:extLst>
                  <a:ext uri="{0D108BD9-81ED-4DB2-BD59-A6C34878D82A}">
                    <a16:rowId xmlns:a16="http://schemas.microsoft.com/office/drawing/2014/main" val="2410083697"/>
                  </a:ext>
                </a:extLst>
              </a:tr>
              <a:tr h="370840">
                <a:tc>
                  <a:txBody>
                    <a:bodyPr/>
                    <a:lstStyle/>
                    <a:p>
                      <a:r>
                        <a:rPr lang="en-US" dirty="0"/>
                        <a:t>Unsubscribes</a:t>
                      </a:r>
                    </a:p>
                  </a:txBody>
                  <a:tcPr/>
                </a:tc>
                <a:tc>
                  <a:txBody>
                    <a:bodyPr/>
                    <a:lstStyle/>
                    <a:p>
                      <a:r>
                        <a:rPr lang="en-US" dirty="0"/>
                        <a:t>1,516</a:t>
                      </a:r>
                    </a:p>
                  </a:txBody>
                  <a:tcPr/>
                </a:tc>
                <a:extLst>
                  <a:ext uri="{0D108BD9-81ED-4DB2-BD59-A6C34878D82A}">
                    <a16:rowId xmlns:a16="http://schemas.microsoft.com/office/drawing/2014/main" val="2536297792"/>
                  </a:ext>
                </a:extLst>
              </a:tr>
              <a:tr h="370840">
                <a:tc>
                  <a:txBody>
                    <a:bodyPr/>
                    <a:lstStyle/>
                    <a:p>
                      <a:r>
                        <a:rPr lang="en-US" dirty="0"/>
                        <a:t>Unsubscribe Rate:</a:t>
                      </a:r>
                    </a:p>
                  </a:txBody>
                  <a:tcPr/>
                </a:tc>
                <a:tc>
                  <a:txBody>
                    <a:bodyPr/>
                    <a:lstStyle/>
                    <a:p>
                      <a:r>
                        <a:rPr lang="en-US" dirty="0"/>
                        <a:t>5.053%</a:t>
                      </a:r>
                    </a:p>
                  </a:txBody>
                  <a:tcPr/>
                </a:tc>
                <a:extLst>
                  <a:ext uri="{0D108BD9-81ED-4DB2-BD59-A6C34878D82A}">
                    <a16:rowId xmlns:a16="http://schemas.microsoft.com/office/drawing/2014/main" val="2034245277"/>
                  </a:ext>
                </a:extLst>
              </a:tr>
            </a:tbl>
          </a:graphicData>
        </a:graphic>
      </p:graphicFrame>
    </p:spTree>
    <p:extLst>
      <p:ext uri="{BB962C8B-B14F-4D97-AF65-F5344CB8AC3E}">
        <p14:creationId xmlns:p14="http://schemas.microsoft.com/office/powerpoint/2010/main" val="2026516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6D751-98E8-B18F-D720-0B3E387F2624}"/>
              </a:ext>
            </a:extLst>
          </p:cNvPr>
          <p:cNvSpPr>
            <a:spLocks noGrp="1"/>
          </p:cNvSpPr>
          <p:nvPr>
            <p:ph type="title"/>
          </p:nvPr>
        </p:nvSpPr>
        <p:spPr/>
        <p:txBody>
          <a:bodyPr/>
          <a:lstStyle/>
          <a:p>
            <a:pPr algn="ctr"/>
            <a:r>
              <a:rPr lang="en-US" dirty="0"/>
              <a:t>Looking Closer: Unsubscribe Rate by Campaign</a:t>
            </a:r>
          </a:p>
        </p:txBody>
      </p:sp>
      <p:pic>
        <p:nvPicPr>
          <p:cNvPr id="5" name="Content Placeholder 4">
            <a:extLst>
              <a:ext uri="{FF2B5EF4-FFF2-40B4-BE49-F238E27FC236}">
                <a16:creationId xmlns:a16="http://schemas.microsoft.com/office/drawing/2014/main" id="{08F7157B-AD72-2D3D-3435-B0EC0B81D7BB}"/>
              </a:ext>
            </a:extLst>
          </p:cNvPr>
          <p:cNvPicPr>
            <a:picLocks noGrp="1" noChangeAspect="1"/>
          </p:cNvPicPr>
          <p:nvPr>
            <p:ph idx="1"/>
          </p:nvPr>
        </p:nvPicPr>
        <p:blipFill>
          <a:blip r:embed="rId2"/>
          <a:stretch>
            <a:fillRect/>
          </a:stretch>
        </p:blipFill>
        <p:spPr>
          <a:xfrm>
            <a:off x="0" y="2038554"/>
            <a:ext cx="10712519" cy="3467510"/>
          </a:xfrm>
          <a:prstGeom prst="rect">
            <a:avLst/>
          </a:prstGeom>
        </p:spPr>
      </p:pic>
      <p:sp>
        <p:nvSpPr>
          <p:cNvPr id="6" name="TextBox 5">
            <a:extLst>
              <a:ext uri="{FF2B5EF4-FFF2-40B4-BE49-F238E27FC236}">
                <a16:creationId xmlns:a16="http://schemas.microsoft.com/office/drawing/2014/main" id="{2A935D50-0717-7B1A-4581-B54567D1CB94}"/>
              </a:ext>
            </a:extLst>
          </p:cNvPr>
          <p:cNvSpPr txBox="1"/>
          <p:nvPr/>
        </p:nvSpPr>
        <p:spPr>
          <a:xfrm>
            <a:off x="884903" y="5614219"/>
            <a:ext cx="10156723" cy="646331"/>
          </a:xfrm>
          <a:prstGeom prst="rect">
            <a:avLst/>
          </a:prstGeom>
          <a:noFill/>
        </p:spPr>
        <p:txBody>
          <a:bodyPr wrap="square" rtlCol="0">
            <a:spAutoFit/>
          </a:bodyPr>
          <a:lstStyle/>
          <a:p>
            <a:r>
              <a:rPr lang="en-US" dirty="0"/>
              <a:t>Even the lowest unsubscribe rate is above 3%, but there are clearly some campaigns helping our rate and some that our hurting our rate, which should be looked into further:</a:t>
            </a:r>
          </a:p>
        </p:txBody>
      </p:sp>
    </p:spTree>
    <p:extLst>
      <p:ext uri="{BB962C8B-B14F-4D97-AF65-F5344CB8AC3E}">
        <p14:creationId xmlns:p14="http://schemas.microsoft.com/office/powerpoint/2010/main" val="3448155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FF8FE-DECE-38FE-0C2D-6FAE97E69682}"/>
              </a:ext>
            </a:extLst>
          </p:cNvPr>
          <p:cNvSpPr>
            <a:spLocks noGrp="1"/>
          </p:cNvSpPr>
          <p:nvPr>
            <p:ph type="title"/>
          </p:nvPr>
        </p:nvSpPr>
        <p:spPr/>
        <p:txBody>
          <a:bodyPr/>
          <a:lstStyle/>
          <a:p>
            <a:pPr algn="ctr"/>
            <a:r>
              <a:rPr lang="en-US" dirty="0"/>
              <a:t>Looking Closer: Unsubscribe Rate by Campaign/Category</a:t>
            </a:r>
          </a:p>
        </p:txBody>
      </p:sp>
      <p:sp>
        <p:nvSpPr>
          <p:cNvPr id="7" name="Content Placeholder 6">
            <a:extLst>
              <a:ext uri="{FF2B5EF4-FFF2-40B4-BE49-F238E27FC236}">
                <a16:creationId xmlns:a16="http://schemas.microsoft.com/office/drawing/2014/main" id="{E0EDB5E6-9B27-FF22-C144-6C0172FF396F}"/>
              </a:ext>
            </a:extLst>
          </p:cNvPr>
          <p:cNvSpPr>
            <a:spLocks noGrp="1"/>
          </p:cNvSpPr>
          <p:nvPr>
            <p:ph idx="1"/>
          </p:nvPr>
        </p:nvSpPr>
        <p:spPr>
          <a:xfrm>
            <a:off x="1050960" y="2170422"/>
            <a:ext cx="8596668" cy="4328702"/>
          </a:xfrm>
        </p:spPr>
        <p:txBody>
          <a:bodyPr/>
          <a:lstStyle/>
          <a:p>
            <a:r>
              <a:rPr lang="en-US" dirty="0"/>
              <a:t>Looking at the top two and bottom two campaigns by unsubscribe rate (2 and 1 are highest, 11 and 13 are lowest respectively), we can see that they are both isolated into two categories: promotion and newsletter:</a:t>
            </a:r>
          </a:p>
          <a:p>
            <a:endParaRPr lang="en-US" dirty="0"/>
          </a:p>
          <a:p>
            <a:endParaRPr lang="en-US" dirty="0"/>
          </a:p>
          <a:p>
            <a:endParaRPr lang="en-US" dirty="0"/>
          </a:p>
          <a:p>
            <a:endParaRPr lang="en-US" dirty="0"/>
          </a:p>
          <a:p>
            <a:endParaRPr lang="en-US" dirty="0"/>
          </a:p>
          <a:p>
            <a:endParaRPr lang="en-US" dirty="0"/>
          </a:p>
          <a:p>
            <a:r>
              <a:rPr lang="en-US" dirty="0"/>
              <a:t>The implication is that newsletter campaigns may be doing something right, and promotional campaigns may be doing something wrong</a:t>
            </a:r>
          </a:p>
          <a:p>
            <a:pPr marL="0" indent="0">
              <a:buNone/>
            </a:pPr>
            <a:endParaRPr lang="en-US" dirty="0"/>
          </a:p>
        </p:txBody>
      </p:sp>
      <p:pic>
        <p:nvPicPr>
          <p:cNvPr id="21" name="Picture 20">
            <a:extLst>
              <a:ext uri="{FF2B5EF4-FFF2-40B4-BE49-F238E27FC236}">
                <a16:creationId xmlns:a16="http://schemas.microsoft.com/office/drawing/2014/main" id="{4703D377-0A12-CB0F-34DA-EB84D2964300}"/>
              </a:ext>
            </a:extLst>
          </p:cNvPr>
          <p:cNvPicPr>
            <a:picLocks noChangeAspect="1"/>
          </p:cNvPicPr>
          <p:nvPr/>
        </p:nvPicPr>
        <p:blipFill>
          <a:blip r:embed="rId2"/>
          <a:stretch>
            <a:fillRect/>
          </a:stretch>
        </p:blipFill>
        <p:spPr>
          <a:xfrm>
            <a:off x="88490" y="3429000"/>
            <a:ext cx="11552903" cy="1299786"/>
          </a:xfrm>
          <a:prstGeom prst="rect">
            <a:avLst/>
          </a:prstGeom>
        </p:spPr>
      </p:pic>
    </p:spTree>
    <p:extLst>
      <p:ext uri="{BB962C8B-B14F-4D97-AF65-F5344CB8AC3E}">
        <p14:creationId xmlns:p14="http://schemas.microsoft.com/office/powerpoint/2010/main" val="3035510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8DE99-A7D8-B34F-8C4F-08AD1E9005EC}"/>
              </a:ext>
            </a:extLst>
          </p:cNvPr>
          <p:cNvSpPr>
            <a:spLocks noGrp="1"/>
          </p:cNvSpPr>
          <p:nvPr>
            <p:ph type="title"/>
          </p:nvPr>
        </p:nvSpPr>
        <p:spPr/>
        <p:txBody>
          <a:bodyPr>
            <a:normAutofit/>
          </a:bodyPr>
          <a:lstStyle/>
          <a:p>
            <a:pPr algn="ctr"/>
            <a:r>
              <a:rPr lang="en-US" dirty="0"/>
              <a:t>How long does it take the average user to unsubscribe? Median?</a:t>
            </a:r>
          </a:p>
        </p:txBody>
      </p:sp>
      <p:sp>
        <p:nvSpPr>
          <p:cNvPr id="7" name="Content Placeholder 6">
            <a:extLst>
              <a:ext uri="{FF2B5EF4-FFF2-40B4-BE49-F238E27FC236}">
                <a16:creationId xmlns:a16="http://schemas.microsoft.com/office/drawing/2014/main" id="{31CA4CD5-1C88-397E-A1DB-032D2F8ABE27}"/>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r>
              <a:rPr lang="en-US" dirty="0"/>
              <a:t>The average being higher than the median indicates data is positively skewed, which implies more lower value points than higher value points. Is there a trend?</a:t>
            </a:r>
          </a:p>
        </p:txBody>
      </p:sp>
      <p:graphicFrame>
        <p:nvGraphicFramePr>
          <p:cNvPr id="16" name="Table 15">
            <a:extLst>
              <a:ext uri="{FF2B5EF4-FFF2-40B4-BE49-F238E27FC236}">
                <a16:creationId xmlns:a16="http://schemas.microsoft.com/office/drawing/2014/main" id="{6B81ABCB-CA15-FA64-9A91-D70578488F87}"/>
              </a:ext>
            </a:extLst>
          </p:cNvPr>
          <p:cNvGraphicFramePr>
            <a:graphicFrameLocks noGrp="1"/>
          </p:cNvGraphicFramePr>
          <p:nvPr>
            <p:extLst>
              <p:ext uri="{D42A27DB-BD31-4B8C-83A1-F6EECF244321}">
                <p14:modId xmlns:p14="http://schemas.microsoft.com/office/powerpoint/2010/main" val="2397170964"/>
              </p:ext>
            </p:extLst>
          </p:nvPr>
        </p:nvGraphicFramePr>
        <p:xfrm>
          <a:off x="1510890" y="1973351"/>
          <a:ext cx="8128000" cy="1112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153758106"/>
                    </a:ext>
                  </a:extLst>
                </a:gridCol>
                <a:gridCol w="4064000">
                  <a:extLst>
                    <a:ext uri="{9D8B030D-6E8A-4147-A177-3AD203B41FA5}">
                      <a16:colId xmlns:a16="http://schemas.microsoft.com/office/drawing/2014/main" val="654622555"/>
                    </a:ext>
                  </a:extLst>
                </a:gridCol>
              </a:tblGrid>
              <a:tr h="370840">
                <a:tc>
                  <a:txBody>
                    <a:bodyPr/>
                    <a:lstStyle/>
                    <a:p>
                      <a:r>
                        <a:rPr lang="en-US" dirty="0"/>
                        <a:t>Calculation</a:t>
                      </a:r>
                    </a:p>
                  </a:txBody>
                  <a:tcPr/>
                </a:tc>
                <a:tc>
                  <a:txBody>
                    <a:bodyPr/>
                    <a:lstStyle/>
                    <a:p>
                      <a:r>
                        <a:rPr lang="en-US" dirty="0"/>
                        <a:t># of Days</a:t>
                      </a:r>
                    </a:p>
                  </a:txBody>
                  <a:tcPr/>
                </a:tc>
                <a:extLst>
                  <a:ext uri="{0D108BD9-81ED-4DB2-BD59-A6C34878D82A}">
                    <a16:rowId xmlns:a16="http://schemas.microsoft.com/office/drawing/2014/main" val="414969127"/>
                  </a:ext>
                </a:extLst>
              </a:tr>
              <a:tr h="370840">
                <a:tc>
                  <a:txBody>
                    <a:bodyPr/>
                    <a:lstStyle/>
                    <a:p>
                      <a:r>
                        <a:rPr lang="en-US" dirty="0"/>
                        <a:t>Average Unsubscribe Time</a:t>
                      </a:r>
                    </a:p>
                  </a:txBody>
                  <a:tcPr/>
                </a:tc>
                <a:tc>
                  <a:txBody>
                    <a:bodyPr/>
                    <a:lstStyle/>
                    <a:p>
                      <a:r>
                        <a:rPr lang="en-US" dirty="0"/>
                        <a:t>234.98</a:t>
                      </a:r>
                    </a:p>
                  </a:txBody>
                  <a:tcPr/>
                </a:tc>
                <a:extLst>
                  <a:ext uri="{0D108BD9-81ED-4DB2-BD59-A6C34878D82A}">
                    <a16:rowId xmlns:a16="http://schemas.microsoft.com/office/drawing/2014/main" val="1123118422"/>
                  </a:ext>
                </a:extLst>
              </a:tr>
              <a:tr h="370840">
                <a:tc>
                  <a:txBody>
                    <a:bodyPr/>
                    <a:lstStyle/>
                    <a:p>
                      <a:r>
                        <a:rPr lang="en-US" dirty="0"/>
                        <a:t>Median Unsubscribe Time</a:t>
                      </a:r>
                    </a:p>
                  </a:txBody>
                  <a:tcPr/>
                </a:tc>
                <a:tc>
                  <a:txBody>
                    <a:bodyPr/>
                    <a:lstStyle/>
                    <a:p>
                      <a:r>
                        <a:rPr lang="en-US" dirty="0"/>
                        <a:t>221</a:t>
                      </a:r>
                    </a:p>
                  </a:txBody>
                  <a:tcPr/>
                </a:tc>
                <a:extLst>
                  <a:ext uri="{0D108BD9-81ED-4DB2-BD59-A6C34878D82A}">
                    <a16:rowId xmlns:a16="http://schemas.microsoft.com/office/drawing/2014/main" val="2146205211"/>
                  </a:ext>
                </a:extLst>
              </a:tr>
            </a:tbl>
          </a:graphicData>
        </a:graphic>
      </p:graphicFrame>
    </p:spTree>
    <p:extLst>
      <p:ext uri="{BB962C8B-B14F-4D97-AF65-F5344CB8AC3E}">
        <p14:creationId xmlns:p14="http://schemas.microsoft.com/office/powerpoint/2010/main" val="2329399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1C48F-AE17-C318-2A4D-E631A2FBE816}"/>
              </a:ext>
            </a:extLst>
          </p:cNvPr>
          <p:cNvSpPr>
            <a:spLocks noGrp="1"/>
          </p:cNvSpPr>
          <p:nvPr>
            <p:ph type="title"/>
          </p:nvPr>
        </p:nvSpPr>
        <p:spPr>
          <a:xfrm>
            <a:off x="677334" y="609600"/>
            <a:ext cx="8596668" cy="1474840"/>
          </a:xfrm>
        </p:spPr>
        <p:txBody>
          <a:bodyPr>
            <a:normAutofit fontScale="90000"/>
          </a:bodyPr>
          <a:lstStyle/>
          <a:p>
            <a:r>
              <a:rPr lang="en-US" dirty="0"/>
              <a:t>There is a trend! In general, users who have signed up more recently (newer users) are unsubscribing faster than older users</a:t>
            </a:r>
          </a:p>
        </p:txBody>
      </p:sp>
      <p:sp>
        <p:nvSpPr>
          <p:cNvPr id="3" name="Content Placeholder 2">
            <a:extLst>
              <a:ext uri="{FF2B5EF4-FFF2-40B4-BE49-F238E27FC236}">
                <a16:creationId xmlns:a16="http://schemas.microsoft.com/office/drawing/2014/main" id="{DFF7E231-29FD-B925-DFC1-87C1B4CD8BA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30A1106-50AE-5CB8-08E0-4C180620390F}"/>
              </a:ext>
            </a:extLst>
          </p:cNvPr>
          <p:cNvPicPr>
            <a:picLocks noChangeAspect="1"/>
          </p:cNvPicPr>
          <p:nvPr/>
        </p:nvPicPr>
        <p:blipFill>
          <a:blip r:embed="rId2"/>
          <a:stretch>
            <a:fillRect/>
          </a:stretch>
        </p:blipFill>
        <p:spPr>
          <a:xfrm>
            <a:off x="677334" y="2160589"/>
            <a:ext cx="8732682" cy="3964531"/>
          </a:xfrm>
          <a:prstGeom prst="rect">
            <a:avLst/>
          </a:prstGeom>
        </p:spPr>
      </p:pic>
    </p:spTree>
    <p:extLst>
      <p:ext uri="{BB962C8B-B14F-4D97-AF65-F5344CB8AC3E}">
        <p14:creationId xmlns:p14="http://schemas.microsoft.com/office/powerpoint/2010/main" val="4214299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5EFBD-A89C-8495-D808-6CB4FFACEBEC}"/>
              </a:ext>
            </a:extLst>
          </p:cNvPr>
          <p:cNvSpPr>
            <a:spLocks noGrp="1"/>
          </p:cNvSpPr>
          <p:nvPr>
            <p:ph type="title"/>
          </p:nvPr>
        </p:nvSpPr>
        <p:spPr/>
        <p:txBody>
          <a:bodyPr/>
          <a:lstStyle/>
          <a:p>
            <a:pPr algn="ctr"/>
            <a:r>
              <a:rPr lang="en-US" dirty="0"/>
              <a:t>Why did people say they were unsubscribing?</a:t>
            </a:r>
          </a:p>
        </p:txBody>
      </p:sp>
      <p:sp>
        <p:nvSpPr>
          <p:cNvPr id="7" name="Content Placeholder 6">
            <a:extLst>
              <a:ext uri="{FF2B5EF4-FFF2-40B4-BE49-F238E27FC236}">
                <a16:creationId xmlns:a16="http://schemas.microsoft.com/office/drawing/2014/main" id="{89236369-04FE-FD98-34C7-68C4D11137DA}"/>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Do these reasons differ by campaign Category?</a:t>
            </a:r>
          </a:p>
        </p:txBody>
      </p:sp>
      <p:pic>
        <p:nvPicPr>
          <p:cNvPr id="11" name="Content Placeholder 4">
            <a:extLst>
              <a:ext uri="{FF2B5EF4-FFF2-40B4-BE49-F238E27FC236}">
                <a16:creationId xmlns:a16="http://schemas.microsoft.com/office/drawing/2014/main" id="{E43503DA-7485-C3A6-08B3-23A73483815E}"/>
              </a:ext>
            </a:extLst>
          </p:cNvPr>
          <p:cNvPicPr>
            <a:picLocks noChangeAspect="1"/>
          </p:cNvPicPr>
          <p:nvPr/>
        </p:nvPicPr>
        <p:blipFill>
          <a:blip r:embed="rId2"/>
          <a:stretch>
            <a:fillRect/>
          </a:stretch>
        </p:blipFill>
        <p:spPr>
          <a:xfrm>
            <a:off x="2880831" y="1986653"/>
            <a:ext cx="4189673" cy="2884694"/>
          </a:xfrm>
          <a:prstGeom prst="rect">
            <a:avLst/>
          </a:prstGeom>
        </p:spPr>
      </p:pic>
    </p:spTree>
    <p:extLst>
      <p:ext uri="{BB962C8B-B14F-4D97-AF65-F5344CB8AC3E}">
        <p14:creationId xmlns:p14="http://schemas.microsoft.com/office/powerpoint/2010/main" val="1479121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A6822-F16C-23F8-A7C8-CB28F1D6266B}"/>
              </a:ext>
            </a:extLst>
          </p:cNvPr>
          <p:cNvSpPr>
            <a:spLocks noGrp="1"/>
          </p:cNvSpPr>
          <p:nvPr>
            <p:ph type="title"/>
          </p:nvPr>
        </p:nvSpPr>
        <p:spPr>
          <a:xfrm>
            <a:off x="677334" y="609600"/>
            <a:ext cx="8596668" cy="845574"/>
          </a:xfrm>
        </p:spPr>
        <p:txBody>
          <a:bodyPr>
            <a:normAutofit/>
          </a:bodyPr>
          <a:lstStyle/>
          <a:p>
            <a:r>
              <a:rPr lang="en-US" sz="1800" dirty="0">
                <a:solidFill>
                  <a:schemeClr val="tx1"/>
                </a:solidFill>
                <a:latin typeface="+mn-lt"/>
              </a:rPr>
              <a:t>There is a difference. “Other” and “not relevant” are concerns for promotional campaigns. “Privacy concerns” for Re-engagement and Newsletter is another.</a:t>
            </a:r>
          </a:p>
        </p:txBody>
      </p:sp>
      <p:pic>
        <p:nvPicPr>
          <p:cNvPr id="5" name="Content Placeholder 4">
            <a:extLst>
              <a:ext uri="{FF2B5EF4-FFF2-40B4-BE49-F238E27FC236}">
                <a16:creationId xmlns:a16="http://schemas.microsoft.com/office/drawing/2014/main" id="{F7EFE468-412D-3554-70BD-9C6802AB2B1D}"/>
              </a:ext>
            </a:extLst>
          </p:cNvPr>
          <p:cNvPicPr>
            <a:picLocks noGrp="1" noChangeAspect="1"/>
          </p:cNvPicPr>
          <p:nvPr>
            <p:ph idx="1"/>
          </p:nvPr>
        </p:nvPicPr>
        <p:blipFill>
          <a:blip r:embed="rId2"/>
          <a:stretch>
            <a:fillRect/>
          </a:stretch>
        </p:blipFill>
        <p:spPr>
          <a:xfrm>
            <a:off x="1592827" y="1367809"/>
            <a:ext cx="6990735" cy="5297912"/>
          </a:xfrm>
          <a:prstGeom prst="rect">
            <a:avLst/>
          </a:prstGeom>
        </p:spPr>
      </p:pic>
    </p:spTree>
    <p:extLst>
      <p:ext uri="{BB962C8B-B14F-4D97-AF65-F5344CB8AC3E}">
        <p14:creationId xmlns:p14="http://schemas.microsoft.com/office/powerpoint/2010/main" val="4215799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C7080-DB94-F798-0F8F-2B9D475D72ED}"/>
              </a:ext>
            </a:extLst>
          </p:cNvPr>
          <p:cNvSpPr>
            <a:spLocks noGrp="1"/>
          </p:cNvSpPr>
          <p:nvPr>
            <p:ph type="title"/>
          </p:nvPr>
        </p:nvSpPr>
        <p:spPr/>
        <p:txBody>
          <a:bodyPr/>
          <a:lstStyle/>
          <a:p>
            <a:pPr algn="ctr"/>
            <a:r>
              <a:rPr lang="en-US" dirty="0"/>
              <a:t>Summary of Findings</a:t>
            </a:r>
          </a:p>
        </p:txBody>
      </p:sp>
      <p:sp>
        <p:nvSpPr>
          <p:cNvPr id="3" name="Content Placeholder 2">
            <a:extLst>
              <a:ext uri="{FF2B5EF4-FFF2-40B4-BE49-F238E27FC236}">
                <a16:creationId xmlns:a16="http://schemas.microsoft.com/office/drawing/2014/main" id="{95254D63-DBA6-8137-A0DD-54991BF5F369}"/>
              </a:ext>
            </a:extLst>
          </p:cNvPr>
          <p:cNvSpPr>
            <a:spLocks noGrp="1"/>
          </p:cNvSpPr>
          <p:nvPr>
            <p:ph idx="1"/>
          </p:nvPr>
        </p:nvSpPr>
        <p:spPr/>
        <p:txBody>
          <a:bodyPr/>
          <a:lstStyle/>
          <a:p>
            <a:r>
              <a:rPr lang="en-US" dirty="0"/>
              <a:t>5.05% Unsubscribe Rate</a:t>
            </a:r>
          </a:p>
          <a:p>
            <a:r>
              <a:rPr lang="en-US" dirty="0"/>
              <a:t>Campaigns 1 and 2 (both promotions) are the campaigns most needing improvement, while Campaigns 11 and 13 (both newsletters) are the campaigns setting the expectation, although unsubscribe rates are still concerning across all campaigns, with the lowest rate being 3.4%</a:t>
            </a:r>
          </a:p>
          <a:p>
            <a:r>
              <a:rPr lang="en-US" dirty="0"/>
              <a:t>Average Unsubscribe time sits at roughly 235 days, while median sits at 221</a:t>
            </a:r>
          </a:p>
          <a:p>
            <a:r>
              <a:rPr lang="en-US" dirty="0"/>
              <a:t>In general, users who have signed up more recently to our emails are unsubscribing at a quicker rate than older users</a:t>
            </a:r>
          </a:p>
          <a:p>
            <a:r>
              <a:rPr lang="en-US" dirty="0"/>
              <a:t>Privacy and Relevancy are the primary concerns for unsubscribing, while Other is the lowest concern and “Too many emails” is the lowest specific concern</a:t>
            </a:r>
          </a:p>
          <a:p>
            <a:endParaRPr lang="en-US" dirty="0"/>
          </a:p>
          <a:p>
            <a:endParaRPr lang="en-US" dirty="0"/>
          </a:p>
        </p:txBody>
      </p:sp>
    </p:spTree>
    <p:extLst>
      <p:ext uri="{BB962C8B-B14F-4D97-AF65-F5344CB8AC3E}">
        <p14:creationId xmlns:p14="http://schemas.microsoft.com/office/powerpoint/2010/main" val="2416767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1ABE1-30A6-C156-EAEC-8339BC286EEE}"/>
              </a:ext>
            </a:extLst>
          </p:cNvPr>
          <p:cNvSpPr>
            <a:spLocks noGrp="1"/>
          </p:cNvSpPr>
          <p:nvPr>
            <p:ph type="title"/>
          </p:nvPr>
        </p:nvSpPr>
        <p:spPr/>
        <p:txBody>
          <a:bodyPr/>
          <a:lstStyle/>
          <a:p>
            <a:pPr algn="ctr"/>
            <a:r>
              <a:rPr lang="en-US" dirty="0"/>
              <a:t>Actionable Recommendations: </a:t>
            </a:r>
            <a:br>
              <a:rPr lang="en-US" dirty="0"/>
            </a:br>
            <a:r>
              <a:rPr lang="en-US" dirty="0"/>
              <a:t>#1: Promotional Campaigns</a:t>
            </a:r>
          </a:p>
        </p:txBody>
      </p:sp>
      <p:sp>
        <p:nvSpPr>
          <p:cNvPr id="3" name="Content Placeholder 2">
            <a:extLst>
              <a:ext uri="{FF2B5EF4-FFF2-40B4-BE49-F238E27FC236}">
                <a16:creationId xmlns:a16="http://schemas.microsoft.com/office/drawing/2014/main" id="{16E1496B-7308-1F76-A594-18E88E7193CC}"/>
              </a:ext>
            </a:extLst>
          </p:cNvPr>
          <p:cNvSpPr>
            <a:spLocks noGrp="1"/>
          </p:cNvSpPr>
          <p:nvPr>
            <p:ph idx="1"/>
          </p:nvPr>
        </p:nvSpPr>
        <p:spPr/>
        <p:txBody>
          <a:bodyPr>
            <a:normAutofit/>
          </a:bodyPr>
          <a:lstStyle/>
          <a:p>
            <a:r>
              <a:rPr lang="en-US" dirty="0"/>
              <a:t>The most popular unsubscribe reason for the promotions category is “Not Relevant.” “Too many emails” reason for unsubscribing is the lowest reason for unsubscribing from promotional campaigns. </a:t>
            </a:r>
          </a:p>
          <a:p>
            <a:r>
              <a:rPr lang="en-US" dirty="0"/>
              <a:t>Recommendation: Complete a review of future outgoing promotional emails to identify/rectify the relevance of said emails to their corresponding campaign. In the next promotional campaigns, increase the volume of emails. </a:t>
            </a:r>
          </a:p>
          <a:p>
            <a:r>
              <a:rPr lang="en-US" dirty="0"/>
              <a:t>“Other” is the second most popular unsubscribe reason for the promotional category, which indicates that there is an issue with emails sent that we haven’t been able to ascertain. </a:t>
            </a:r>
          </a:p>
          <a:p>
            <a:r>
              <a:rPr lang="en-US" dirty="0"/>
              <a:t>Recommendation: When users who subscribed to a promotional campaign unsubscribe and list “other” as their reason, add in a fill in the blank box so we can get a better picture of their reason for unsubscribing.</a:t>
            </a:r>
          </a:p>
        </p:txBody>
      </p:sp>
    </p:spTree>
    <p:extLst>
      <p:ext uri="{BB962C8B-B14F-4D97-AF65-F5344CB8AC3E}">
        <p14:creationId xmlns:p14="http://schemas.microsoft.com/office/powerpoint/2010/main" val="2437924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080FE-3B87-AB5D-739A-C5975DDE5923}"/>
              </a:ext>
            </a:extLst>
          </p:cNvPr>
          <p:cNvSpPr>
            <a:spLocks noGrp="1"/>
          </p:cNvSpPr>
          <p:nvPr>
            <p:ph type="title"/>
          </p:nvPr>
        </p:nvSpPr>
        <p:spPr/>
        <p:txBody>
          <a:bodyPr/>
          <a:lstStyle/>
          <a:p>
            <a:pPr algn="ctr"/>
            <a:r>
              <a:rPr lang="en-US" dirty="0"/>
              <a:t>Actionable Recommendations: #2: </a:t>
            </a:r>
            <a:br>
              <a:rPr lang="en-US" dirty="0"/>
            </a:br>
            <a:r>
              <a:rPr lang="en-US" dirty="0"/>
              <a:t>New users unsubscribing faster</a:t>
            </a:r>
          </a:p>
        </p:txBody>
      </p:sp>
      <p:sp>
        <p:nvSpPr>
          <p:cNvPr id="3" name="Content Placeholder 2">
            <a:extLst>
              <a:ext uri="{FF2B5EF4-FFF2-40B4-BE49-F238E27FC236}">
                <a16:creationId xmlns:a16="http://schemas.microsoft.com/office/drawing/2014/main" id="{60BF51DC-07C3-50DE-75AA-5FB698616738}"/>
              </a:ext>
            </a:extLst>
          </p:cNvPr>
          <p:cNvSpPr>
            <a:spLocks noGrp="1"/>
          </p:cNvSpPr>
          <p:nvPr>
            <p:ph idx="1"/>
          </p:nvPr>
        </p:nvSpPr>
        <p:spPr/>
        <p:txBody>
          <a:bodyPr>
            <a:normAutofit/>
          </a:bodyPr>
          <a:lstStyle/>
          <a:p>
            <a:r>
              <a:rPr lang="en-US" dirty="0"/>
              <a:t>There is a trend of new subscribers unsubscribing at a faster rate than older subscribers. Has there been a change on ABC company’s side of things with correlation to the faster unsubscribe rate? </a:t>
            </a:r>
          </a:p>
          <a:p>
            <a:r>
              <a:rPr lang="en-US" dirty="0"/>
              <a:t>Recommendation: I would recommend that one of our marketing teams research whether there have been changes in the types of emails sent or clients/campaigns reached out to or accepted regarding new subscribers over the course of the dates of the dataset. </a:t>
            </a:r>
          </a:p>
          <a:p>
            <a:r>
              <a:rPr lang="en-US" dirty="0"/>
              <a:t>If there is a correlation we can investigate causation and change our approach if needed.</a:t>
            </a:r>
          </a:p>
          <a:p>
            <a:r>
              <a:rPr lang="en-US" dirty="0"/>
              <a:t>It is possible that there hasn’t been a distinguishable difference in types of emails sent or clients/campaigns reached out to or accepted. If so, we can rule this out as a possibility, but it’s worth ruling out.</a:t>
            </a:r>
          </a:p>
          <a:p>
            <a:endParaRPr lang="en-US" dirty="0"/>
          </a:p>
        </p:txBody>
      </p:sp>
    </p:spTree>
    <p:extLst>
      <p:ext uri="{BB962C8B-B14F-4D97-AF65-F5344CB8AC3E}">
        <p14:creationId xmlns:p14="http://schemas.microsoft.com/office/powerpoint/2010/main" val="1439751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A7C28-3299-BE75-8988-3F0C9BE0B45F}"/>
              </a:ext>
            </a:extLst>
          </p:cNvPr>
          <p:cNvSpPr>
            <a:spLocks noGrp="1"/>
          </p:cNvSpPr>
          <p:nvPr>
            <p:ph type="title"/>
          </p:nvPr>
        </p:nvSpPr>
        <p:spPr/>
        <p:txBody>
          <a:bodyPr/>
          <a:lstStyle/>
          <a:p>
            <a:pPr algn="ctr"/>
            <a:r>
              <a:rPr lang="en-US" dirty="0"/>
              <a:t>Actionable Recommendation #3: Privacy</a:t>
            </a:r>
          </a:p>
        </p:txBody>
      </p:sp>
      <p:sp>
        <p:nvSpPr>
          <p:cNvPr id="3" name="Content Placeholder 2">
            <a:extLst>
              <a:ext uri="{FF2B5EF4-FFF2-40B4-BE49-F238E27FC236}">
                <a16:creationId xmlns:a16="http://schemas.microsoft.com/office/drawing/2014/main" id="{7C8C936F-0F27-A22A-3E47-BA474F4B27C7}"/>
              </a:ext>
            </a:extLst>
          </p:cNvPr>
          <p:cNvSpPr>
            <a:spLocks noGrp="1"/>
          </p:cNvSpPr>
          <p:nvPr>
            <p:ph idx="1"/>
          </p:nvPr>
        </p:nvSpPr>
        <p:spPr/>
        <p:txBody>
          <a:bodyPr>
            <a:normAutofit/>
          </a:bodyPr>
          <a:lstStyle/>
          <a:p>
            <a:r>
              <a:rPr lang="en-US" dirty="0"/>
              <a:t>“Privacy concerns” is ABC company’s most frequent reason cited for unsubscribing.</a:t>
            </a:r>
          </a:p>
          <a:p>
            <a:r>
              <a:rPr lang="en-US" dirty="0"/>
              <a:t> Most notably, privacy is the most frequent reason cited for Newsletter and Re-engagement categories. </a:t>
            </a:r>
          </a:p>
          <a:p>
            <a:r>
              <a:rPr lang="en-US" dirty="0"/>
              <a:t>The implication is that our company is either not protecting user privacy or we aren’t being clear about how we are. In terms of re-engagement category, it’s also possible that users didn’t know or remember that we still had their information, even if they did sign up.</a:t>
            </a:r>
          </a:p>
          <a:p>
            <a:r>
              <a:rPr lang="en-US" dirty="0"/>
              <a:t>Recommendation: Every email sent needs to have a clear link to our company’s privacy policy. This should be in larger characters towards the beginning of the email. </a:t>
            </a:r>
          </a:p>
        </p:txBody>
      </p:sp>
    </p:spTree>
    <p:extLst>
      <p:ext uri="{BB962C8B-B14F-4D97-AF65-F5344CB8AC3E}">
        <p14:creationId xmlns:p14="http://schemas.microsoft.com/office/powerpoint/2010/main" val="2122587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505A4-8883-0A49-D0DA-BF2AAA27DA1A}"/>
              </a:ext>
            </a:extLst>
          </p:cNvPr>
          <p:cNvSpPr>
            <a:spLocks noGrp="1"/>
          </p:cNvSpPr>
          <p:nvPr>
            <p:ph type="title"/>
          </p:nvPr>
        </p:nvSpPr>
        <p:spPr/>
        <p:txBody>
          <a:bodyPr/>
          <a:lstStyle/>
          <a:p>
            <a:pPr algn="ctr"/>
            <a:r>
              <a:rPr lang="en-US" dirty="0"/>
              <a:t>Conclusion</a:t>
            </a:r>
          </a:p>
        </p:txBody>
      </p:sp>
      <p:sp>
        <p:nvSpPr>
          <p:cNvPr id="3" name="Content Placeholder 2">
            <a:extLst>
              <a:ext uri="{FF2B5EF4-FFF2-40B4-BE49-F238E27FC236}">
                <a16:creationId xmlns:a16="http://schemas.microsoft.com/office/drawing/2014/main" id="{1C2BC6BA-F1E9-9898-1626-B1E5CF49FE7B}"/>
              </a:ext>
            </a:extLst>
          </p:cNvPr>
          <p:cNvSpPr>
            <a:spLocks noGrp="1"/>
          </p:cNvSpPr>
          <p:nvPr>
            <p:ph idx="1"/>
          </p:nvPr>
        </p:nvSpPr>
        <p:spPr/>
        <p:txBody>
          <a:bodyPr/>
          <a:lstStyle/>
          <a:p>
            <a:r>
              <a:rPr lang="en-US" dirty="0"/>
              <a:t>Based on our analysis, ABC company has a relatively high unsubscribe rate due to primary factors including relevance and privacy concerns, as well as some unknowns that require further research</a:t>
            </a:r>
          </a:p>
          <a:p>
            <a:r>
              <a:rPr lang="en-US" dirty="0"/>
              <a:t>New users are generally unsubscribing at a faster rate than older users, which should be a major cause for concern as (more than just an unsubscribe rate) this reduces the volume of email marketing emails that can be seen by more users in general.</a:t>
            </a:r>
          </a:p>
          <a:p>
            <a:r>
              <a:rPr lang="en-US" dirty="0"/>
              <a:t>Privacy, especially in the digital age, is a growing concern and ABC company should do all it can to be a solution rather than a problem as it relates to this concern.</a:t>
            </a:r>
          </a:p>
        </p:txBody>
      </p:sp>
    </p:spTree>
    <p:extLst>
      <p:ext uri="{BB962C8B-B14F-4D97-AF65-F5344CB8AC3E}">
        <p14:creationId xmlns:p14="http://schemas.microsoft.com/office/powerpoint/2010/main" val="243353458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263</TotalTime>
  <Words>1154</Words>
  <Application>Microsoft Office PowerPoint</Application>
  <PresentationFormat>Widescreen</PresentationFormat>
  <Paragraphs>94</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Trebuchet MS</vt:lpstr>
      <vt:lpstr>Wingdings 3</vt:lpstr>
      <vt:lpstr>Facet</vt:lpstr>
      <vt:lpstr>Email Marketing Data Analysis Project - Unsubscribers</vt:lpstr>
      <vt:lpstr>Introduction</vt:lpstr>
      <vt:lpstr>Objectives:</vt:lpstr>
      <vt:lpstr>Dataset:</vt:lpstr>
      <vt:lpstr>Steps Taken:</vt:lpstr>
      <vt:lpstr>Overall Unsubscribe Rate:</vt:lpstr>
      <vt:lpstr>Looking Closer: Unsubscribe Rate by Campaign</vt:lpstr>
      <vt:lpstr>Looking Closer: Unsubscribe Rate by Campaign/Category</vt:lpstr>
      <vt:lpstr>How long does it take the average user to unsubscribe? Median?</vt:lpstr>
      <vt:lpstr>There is a trend! In general, users who have signed up more recently (newer users) are unsubscribing faster than older users</vt:lpstr>
      <vt:lpstr>Why did people say they were unsubscribing?</vt:lpstr>
      <vt:lpstr>There is a difference. “Other” and “not relevant” are concerns for promotional campaigns. “Privacy concerns” for Re-engagement and Newsletter is another.</vt:lpstr>
      <vt:lpstr>Summary of Findings</vt:lpstr>
      <vt:lpstr>Actionable Recommendations:  #1: Promotional Campaigns</vt:lpstr>
      <vt:lpstr>Actionable Recommendations: #2:  New users unsubscribing faster</vt:lpstr>
      <vt:lpstr>Actionable Recommendation #3: Privacy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Cameron Ellis</dc:creator>
  <cp:lastModifiedBy>Cameron Ellis</cp:lastModifiedBy>
  <cp:revision>1</cp:revision>
  <dcterms:created xsi:type="dcterms:W3CDTF">2026-01-12T18:53:51Z</dcterms:created>
  <dcterms:modified xsi:type="dcterms:W3CDTF">2026-01-12T23:17:07Z</dcterms:modified>
</cp:coreProperties>
</file>